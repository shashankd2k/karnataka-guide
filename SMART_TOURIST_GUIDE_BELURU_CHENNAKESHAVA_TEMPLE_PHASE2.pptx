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82880"/>
          </a:xfrm>
          <a:prstGeom prst="rect">
            <a:avLst/>
          </a:prstGeom>
          <a:solidFill>
            <a:srgbClr val="B45309"/>
          </a:solidFill>
          <a:ln>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1645920"/>
          </a:xfrm>
          <a:prstGeom prst="rect">
            <a:avLst/>
          </a:prstGeom>
          <a:noFill/>
        </p:spPr>
        <p:txBody>
          <a:bodyPr wrap="square">
            <a:spAutoFit/>
          </a:bodyPr>
          <a:lstStyle/>
          <a:p>
            <a:pPr>
              <a:defRPr sz="1300" b="1">
                <a:solidFill>
                  <a:srgbClr val="B45309"/>
                </a:solidFill>
              </a:defRPr>
            </a:pPr>
            <a:r>
              <a:t>PHASE-II MAJOR PROJECT PRESENTATION</a:t>
            </a:r>
          </a:p>
          <a:p>
            <a:pPr>
              <a:spcBef>
                <a:spcPts val="800"/>
              </a:spcBef>
              <a:defRPr sz="2800" b="1">
                <a:solidFill>
                  <a:srgbClr val="0F172A"/>
                </a:solidFill>
              </a:defRPr>
            </a:pPr>
            <a:r>
              <a:t>SMART TOURIST GUIDE FOR BELURU CHENNAKESHAVA TEMPLE</a:t>
            </a:r>
          </a:p>
          <a:p>
            <a:pPr>
              <a:spcBef>
                <a:spcPts val="400"/>
              </a:spcBef>
              <a:defRPr sz="1500">
                <a:solidFill>
                  <a:srgbClr val="1E3A8A"/>
                </a:solidFill>
              </a:defRPr>
            </a:pPr>
            <a:r>
              <a:t>Software-Based AI Tourist Assistance System with Hybrid RAG &amp; Offline Local LLM</a:t>
            </a:r>
          </a:p>
        </p:txBody>
      </p:sp>
      <p:sp>
        <p:nvSpPr>
          <p:cNvPr id="4" name="Rounded Rectangle 3"/>
          <p:cNvSpPr/>
          <p:nvPr/>
        </p:nvSpPr>
        <p:spPr>
          <a:xfrm>
            <a:off x="914400" y="2468880"/>
            <a:ext cx="10362895" cy="2468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ctr">
              <a:defRPr sz="1200" b="1">
                <a:solidFill>
                  <a:srgbClr val="B45309"/>
                </a:solidFill>
              </a:defRPr>
            </a:pPr>
            <a:r>
              <a:t>PROJECT OVERVIEW &amp; SYSTEM DESCRIPTION</a:t>
            </a:r>
          </a:p>
          <a:p>
            <a:pPr>
              <a:spcBef>
                <a:spcPts val="800"/>
              </a:spcBef>
              <a:defRPr sz="1350">
                <a:solidFill>
                  <a:srgbClr val="334155"/>
                </a:solidFill>
              </a:defRPr>
            </a:pPr>
            <a:r>
              <a:t>Smart Tourist Guide for Beluru Chennakeshava Temple is a software-based AI tourist assistance system designed to provide accurate, multilingual and interactive information to visitors. The system supports Kannada and English text and voice interaction and uses Retrieval-Augmented Generation (RAG), Natural Language Processing, a local Large Language Model, embeddings and ChromaDB to retrieve information from a verified temple-specific knowledge base. It provides grounded answers about the temple's history, architecture, sculptures, visitor guidelines and nearby attractions while reducing incorrect or unsupported information. The system also supports source citations, speech-to-text, text-to-speech and offline operation to improve accessibility and visitor experience.</a:t>
            </a:r>
          </a:p>
        </p:txBody>
      </p:sp>
      <p:sp>
        <p:nvSpPr>
          <p:cNvPr id="5" name="Rounded Rectangle 4"/>
          <p:cNvSpPr/>
          <p:nvPr/>
        </p:nvSpPr>
        <p:spPr>
          <a:xfrm>
            <a:off x="914400" y="5303520"/>
            <a:ext cx="2423160" cy="548640"/>
          </a:xfrm>
          <a:prstGeom prst="roundRect">
            <a:avLst/>
          </a:prstGeom>
          <a:solidFill>
            <a:srgbClr val="EEF2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4338CA"/>
                </a:solidFill>
              </a:defRPr>
            </a:pPr>
            <a:r>
              <a:t>100% Software-Based</a:t>
            </a:r>
          </a:p>
        </p:txBody>
      </p:sp>
      <p:sp>
        <p:nvSpPr>
          <p:cNvPr id="6" name="Rounded Rectangle 5"/>
          <p:cNvSpPr/>
          <p:nvPr/>
        </p:nvSpPr>
        <p:spPr>
          <a:xfrm>
            <a:off x="3547872" y="5303520"/>
            <a:ext cx="2423160" cy="548640"/>
          </a:xfrm>
          <a:prstGeom prst="roundRect">
            <a:avLst/>
          </a:prstGeom>
          <a:solidFill>
            <a:srgbClr val="EEF2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4338CA"/>
                </a:solidFill>
              </a:defRPr>
            </a:pPr>
            <a:r>
              <a:t>100% Local / Offline AI (Zero Cloud Calls)</a:t>
            </a:r>
          </a:p>
        </p:txBody>
      </p:sp>
      <p:sp>
        <p:nvSpPr>
          <p:cNvPr id="7" name="Rounded Rectangle 6"/>
          <p:cNvSpPr/>
          <p:nvPr/>
        </p:nvSpPr>
        <p:spPr>
          <a:xfrm>
            <a:off x="6181344" y="5303520"/>
            <a:ext cx="2423160" cy="548640"/>
          </a:xfrm>
          <a:prstGeom prst="roundRect">
            <a:avLst/>
          </a:prstGeom>
          <a:solidFill>
            <a:srgbClr val="EEF2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4338CA"/>
                </a:solidFill>
              </a:defRPr>
            </a:pPr>
            <a:r>
              <a:t>Zero-Login Public Access</a:t>
            </a:r>
          </a:p>
        </p:txBody>
      </p:sp>
      <p:sp>
        <p:nvSpPr>
          <p:cNvPr id="8" name="Rounded Rectangle 7"/>
          <p:cNvSpPr/>
          <p:nvPr/>
        </p:nvSpPr>
        <p:spPr>
          <a:xfrm>
            <a:off x="8814816" y="5303520"/>
            <a:ext cx="2423160" cy="548640"/>
          </a:xfrm>
          <a:prstGeom prst="roundRect">
            <a:avLst/>
          </a:prstGeom>
          <a:solidFill>
            <a:srgbClr val="EEF2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4338CA"/>
                </a:solidFill>
              </a:defRPr>
            </a:pPr>
            <a:r>
              <a:t>Strict Grounding &amp; Hallucination Guard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B45309"/>
                </a:solidFill>
              </a:defRPr>
            </a:pPr>
            <a:r>
              <a:t>PRESENTATION ROADMAP</a:t>
            </a:r>
          </a:p>
        </p:txBody>
      </p:sp>
      <p:sp>
        <p:nvSpPr>
          <p:cNvPr id="3" name="TextBox 2"/>
          <p:cNvSpPr txBox="1"/>
          <p:nvPr/>
        </p:nvSpPr>
        <p:spPr>
          <a:xfrm>
            <a:off x="731520" y="685800"/>
            <a:ext cx="10698480" cy="594360"/>
          </a:xfrm>
          <a:prstGeom prst="rect">
            <a:avLst/>
          </a:prstGeom>
          <a:noFill/>
        </p:spPr>
        <p:txBody>
          <a:bodyPr wrap="square" lIns="0" rIns="0" tIns="0" bIns="0">
            <a:spAutoFit/>
          </a:bodyPr>
          <a:lstStyle/>
          <a:p>
            <a:pPr>
              <a:defRPr sz="2200" b="1">
                <a:solidFill>
                  <a:srgbClr val="1E3A8A"/>
                </a:solidFill>
              </a:defRPr>
            </a:pPr>
            <a:r>
              <a:t>Project Presentation Phase II Slides Outline</a:t>
            </a:r>
          </a:p>
        </p:txBody>
      </p:sp>
      <p:sp>
        <p:nvSpPr>
          <p:cNvPr id="4" name="Rectangle 3"/>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5257800" cy="107899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300" b="1">
                <a:solidFill>
                  <a:srgbClr val="1E3A8A"/>
                </a:solidFill>
              </a:defRPr>
            </a:pPr>
            <a:r>
              <a:t>01. Module Description (Part I)</a:t>
            </a:r>
          </a:p>
          <a:p>
            <a:pPr>
              <a:spcBef>
                <a:spcPts val="300"/>
              </a:spcBef>
              <a:defRPr sz="1100">
                <a:solidFill>
                  <a:srgbClr val="334155"/>
                </a:solidFill>
              </a:defRPr>
            </a:pPr>
            <a:r>
              <a:t>Modules 1 to 4: Tourist Conversational Interface, Knowledge Management, Hybrid RAG, Grounded LLM</a:t>
            </a:r>
          </a:p>
        </p:txBody>
      </p:sp>
      <p:sp>
        <p:nvSpPr>
          <p:cNvPr id="6" name="Rounded Rectangle 5"/>
          <p:cNvSpPr/>
          <p:nvPr/>
        </p:nvSpPr>
        <p:spPr>
          <a:xfrm>
            <a:off x="6172200" y="1508760"/>
            <a:ext cx="5257800" cy="107899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300" b="1">
                <a:solidFill>
                  <a:srgbClr val="1E3A8A"/>
                </a:solidFill>
              </a:defRPr>
            </a:pPr>
            <a:r>
              <a:t>02. Module Description (Part II)</a:t>
            </a:r>
          </a:p>
          <a:p>
            <a:pPr>
              <a:spcBef>
                <a:spcPts val="300"/>
              </a:spcBef>
              <a:defRPr sz="1100">
                <a:solidFill>
                  <a:srgbClr val="334155"/>
                </a:solidFill>
              </a:defRPr>
            </a:pPr>
            <a:r>
              <a:t>Modules 5 to 8: Multilingual Translation, Voice STT/TTS, Temple Attractions Map, Admin Security</a:t>
            </a:r>
          </a:p>
        </p:txBody>
      </p:sp>
      <p:sp>
        <p:nvSpPr>
          <p:cNvPr id="7" name="Rounded Rectangle 6"/>
          <p:cNvSpPr/>
          <p:nvPr/>
        </p:nvSpPr>
        <p:spPr>
          <a:xfrm>
            <a:off x="731520" y="2715768"/>
            <a:ext cx="5257800" cy="107899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300" b="1">
                <a:solidFill>
                  <a:srgbClr val="1E3A8A"/>
                </a:solidFill>
              </a:defRPr>
            </a:pPr>
            <a:r>
              <a:t>03. Implementation Workflow</a:t>
            </a:r>
          </a:p>
          <a:p>
            <a:pPr>
              <a:spcBef>
                <a:spcPts val="300"/>
              </a:spcBef>
              <a:defRPr sz="1100">
                <a:solidFill>
                  <a:srgbClr val="334155"/>
                </a:solidFill>
              </a:defRPr>
            </a:pPr>
            <a:r>
              <a:t>Important implementation steps: End-to-end 8-stage pipeline from Tourist Query to Verified Response</a:t>
            </a:r>
          </a:p>
        </p:txBody>
      </p:sp>
      <p:sp>
        <p:nvSpPr>
          <p:cNvPr id="8" name="Rounded Rectangle 7"/>
          <p:cNvSpPr/>
          <p:nvPr/>
        </p:nvSpPr>
        <p:spPr>
          <a:xfrm>
            <a:off x="6172200" y="2715768"/>
            <a:ext cx="5257800" cy="107899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300" b="1">
                <a:solidFill>
                  <a:srgbClr val="1E3A8A"/>
                </a:solidFill>
              </a:defRPr>
            </a:pPr>
            <a:r>
              <a:t>04. Key Algorithms</a:t>
            </a:r>
          </a:p>
          <a:p>
            <a:pPr>
              <a:spcBef>
                <a:spcPts val="300"/>
              </a:spcBef>
              <a:defRPr sz="1100">
                <a:solidFill>
                  <a:srgbClr val="334155"/>
                </a:solidFill>
              </a:defRPr>
            </a:pPr>
            <a:r>
              <a:t>Reciprocal Rank Fusion (k=60), Cross-Encoder Reranker, Okapi BM25, S-BERT, CTranslate2 int8, Argon2id</a:t>
            </a:r>
          </a:p>
        </p:txBody>
      </p:sp>
      <p:sp>
        <p:nvSpPr>
          <p:cNvPr id="9" name="Rounded Rectangle 8"/>
          <p:cNvSpPr/>
          <p:nvPr/>
        </p:nvSpPr>
        <p:spPr>
          <a:xfrm>
            <a:off x="731520" y="3922776"/>
            <a:ext cx="5257800" cy="107899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300" b="1">
                <a:solidFill>
                  <a:srgbClr val="1E3A8A"/>
                </a:solidFill>
              </a:defRPr>
            </a:pPr>
            <a:r>
              <a:t>05. Experimental Results</a:t>
            </a:r>
          </a:p>
          <a:p>
            <a:pPr>
              <a:spcBef>
                <a:spcPts val="300"/>
              </a:spcBef>
              <a:defRPr sz="1100">
                <a:solidFill>
                  <a:srgbClr val="334155"/>
                </a:solidFill>
              </a:defRPr>
            </a:pPr>
            <a:r>
              <a:t>Retrieval Quality (Hit@1 100%, MRR 1.0), Zero Hallucination Grounding, 330/330 Unit/Integration Tests</a:t>
            </a:r>
          </a:p>
        </p:txBody>
      </p:sp>
      <p:sp>
        <p:nvSpPr>
          <p:cNvPr id="10" name="Rounded Rectangle 9"/>
          <p:cNvSpPr/>
          <p:nvPr/>
        </p:nvSpPr>
        <p:spPr>
          <a:xfrm>
            <a:off x="6172200" y="3922776"/>
            <a:ext cx="5257800" cy="107899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300" b="1">
                <a:solidFill>
                  <a:srgbClr val="1E3A8A"/>
                </a:solidFill>
              </a:defRPr>
            </a:pPr>
            <a:r>
              <a:t>06. Graphical Portrayal</a:t>
            </a:r>
          </a:p>
          <a:p>
            <a:pPr>
              <a:spcBef>
                <a:spcPts val="300"/>
              </a:spcBef>
              <a:defRPr sz="1100">
                <a:solidFill>
                  <a:srgbClr val="334155"/>
                </a:solidFill>
              </a:defRPr>
            </a:pPr>
            <a:r>
              <a:t>System Architecture, DFD Level 1, Use Case, ER Diagram, RAG Flowchart, Docker Deployment, UI Screens</a:t>
            </a:r>
          </a:p>
        </p:txBody>
      </p:sp>
      <p:sp>
        <p:nvSpPr>
          <p:cNvPr id="11" name="Rounded Rectangle 10"/>
          <p:cNvSpPr/>
          <p:nvPr/>
        </p:nvSpPr>
        <p:spPr>
          <a:xfrm>
            <a:off x="731520" y="5129783"/>
            <a:ext cx="5257800" cy="107899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300" b="1">
                <a:solidFill>
                  <a:srgbClr val="1E3A8A"/>
                </a:solidFill>
              </a:defRPr>
            </a:pPr>
            <a:r>
              <a:t>07. Conclusion &amp; Future Scope</a:t>
            </a:r>
          </a:p>
          <a:p>
            <a:pPr>
              <a:spcBef>
                <a:spcPts val="300"/>
              </a:spcBef>
              <a:defRPr sz="1100">
                <a:solidFill>
                  <a:srgbClr val="334155"/>
                </a:solidFill>
              </a:defRPr>
            </a:pPr>
            <a:r>
              <a:t>System benefits, local AI cultural preservation impact, and future optimization roadmap</a:t>
            </a:r>
          </a:p>
        </p:txBody>
      </p:sp>
      <p:sp>
        <p:nvSpPr>
          <p:cNvPr id="12" name="Rounded Rectangle 11"/>
          <p:cNvSpPr/>
          <p:nvPr/>
        </p:nvSpPr>
        <p:spPr>
          <a:xfrm>
            <a:off x="6172200" y="5129783"/>
            <a:ext cx="5257800" cy="107899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300" b="1">
                <a:solidFill>
                  <a:srgbClr val="1E3A8A"/>
                </a:solidFill>
              </a:defRPr>
            </a:pPr>
            <a:r>
              <a:t>08. References</a:t>
            </a:r>
          </a:p>
          <a:p>
            <a:pPr>
              <a:spcBef>
                <a:spcPts val="300"/>
              </a:spcBef>
              <a:defRPr sz="1100">
                <a:solidFill>
                  <a:srgbClr val="334155"/>
                </a:solidFill>
              </a:defRPr>
            </a:pPr>
            <a:r>
              <a:t>Academic literature and official technical documentation for all underlying models and frameworks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B45309"/>
                </a:solidFill>
              </a:defRPr>
            </a:pPr>
            <a:r>
              <a:t>MODULE DESCRIPTION — PART I</a:t>
            </a:r>
          </a:p>
        </p:txBody>
      </p:sp>
      <p:sp>
        <p:nvSpPr>
          <p:cNvPr id="3" name="TextBox 2"/>
          <p:cNvSpPr txBox="1"/>
          <p:nvPr/>
        </p:nvSpPr>
        <p:spPr>
          <a:xfrm>
            <a:off x="731520" y="685800"/>
            <a:ext cx="10698480" cy="594360"/>
          </a:xfrm>
          <a:prstGeom prst="rect">
            <a:avLst/>
          </a:prstGeom>
          <a:noFill/>
        </p:spPr>
        <p:txBody>
          <a:bodyPr wrap="square" lIns="0" rIns="0" tIns="0" bIns="0">
            <a:spAutoFit/>
          </a:bodyPr>
          <a:lstStyle/>
          <a:p>
            <a:pPr>
              <a:defRPr sz="2200" b="1">
                <a:solidFill>
                  <a:srgbClr val="1E3A8A"/>
                </a:solidFill>
              </a:defRPr>
            </a:pPr>
            <a:r>
              <a:t>Core Architecture &amp; Conversational Intelligence</a:t>
            </a:r>
          </a:p>
        </p:txBody>
      </p:sp>
      <p:sp>
        <p:nvSpPr>
          <p:cNvPr id="4" name="Rectangle 3"/>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5257800" cy="2331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300" b="1">
                <a:solidFill>
                  <a:srgbClr val="1E3A8A"/>
                </a:solidFill>
              </a:defRPr>
            </a:pPr>
            <a:r>
              <a:t>Module 1: Tourist Conversational Interface</a:t>
            </a:r>
          </a:p>
          <a:p>
            <a:pPr>
              <a:spcBef>
                <a:spcPts val="400"/>
              </a:spcBef>
              <a:defRPr sz="1100">
                <a:solidFill>
                  <a:srgbClr val="334155"/>
                </a:solidFill>
              </a:defRPr>
            </a:pPr>
            <a:r>
              <a:t>• Zero-login, public access designed for on-site Beluru temple tourists (no login barriers).</a:t>
            </a:r>
          </a:p>
          <a:p>
            <a:pPr>
              <a:spcBef>
                <a:spcPts val="400"/>
              </a:spcBef>
              <a:defRPr sz="1100">
                <a:solidFill>
                  <a:srgbClr val="334155"/>
                </a:solidFill>
              </a:defRPr>
            </a:pPr>
            <a:r>
              <a:t>• Supports bilingual (English &amp; Kannada) text chat with real-time SSE token streaming.</a:t>
            </a:r>
          </a:p>
          <a:p>
            <a:pPr>
              <a:spcBef>
                <a:spcPts val="400"/>
              </a:spcBef>
              <a:defRPr sz="1100">
                <a:solidFill>
                  <a:srgbClr val="334155"/>
                </a:solidFill>
              </a:defRPr>
            </a:pPr>
            <a:r>
              <a:t>• Multi-turn session context: tracks last 5 conversation turns to resolve follow-up queries.</a:t>
            </a:r>
          </a:p>
        </p:txBody>
      </p:sp>
      <p:sp>
        <p:nvSpPr>
          <p:cNvPr id="6" name="Rounded Rectangle 5"/>
          <p:cNvSpPr/>
          <p:nvPr/>
        </p:nvSpPr>
        <p:spPr>
          <a:xfrm>
            <a:off x="6172200" y="1508760"/>
            <a:ext cx="5257800" cy="2331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300" b="1">
                <a:solidFill>
                  <a:srgbClr val="1E3A8A"/>
                </a:solidFill>
              </a:defRPr>
            </a:pPr>
            <a:r>
              <a:t>Module 2: Knowledge Base &amp; Document Management</a:t>
            </a:r>
          </a:p>
          <a:p>
            <a:pPr>
              <a:spcBef>
                <a:spcPts val="400"/>
              </a:spcBef>
              <a:defRPr sz="1100">
                <a:solidFill>
                  <a:srgbClr val="334155"/>
                </a:solidFill>
              </a:defRPr>
            </a:pPr>
            <a:r>
              <a:t>• Upload verified Beluru Chennakeshava Temple research papers, ASI guides, and architectural records.</a:t>
            </a:r>
          </a:p>
          <a:p>
            <a:pPr>
              <a:spcBef>
                <a:spcPts val="400"/>
              </a:spcBef>
              <a:defRPr sz="1100">
                <a:solidFill>
                  <a:srgbClr val="334155"/>
                </a:solidFill>
              </a:defRPr>
            </a:pPr>
            <a:r>
              <a:t>• Enforces strict SHA-256 deduplication, MIME validation (application/pdf), and UUID storage.</a:t>
            </a:r>
          </a:p>
          <a:p>
            <a:pPr>
              <a:spcBef>
                <a:spcPts val="400"/>
              </a:spcBef>
              <a:defRPr sz="1100">
                <a:solidFill>
                  <a:srgbClr val="334155"/>
                </a:solidFill>
              </a:defRPr>
            </a:pPr>
            <a:r>
              <a:t>• Immutable knowledge generation pipeline ensures zero corruption of active knowledge.</a:t>
            </a:r>
          </a:p>
        </p:txBody>
      </p:sp>
      <p:sp>
        <p:nvSpPr>
          <p:cNvPr id="7" name="Rounded Rectangle 6"/>
          <p:cNvSpPr/>
          <p:nvPr/>
        </p:nvSpPr>
        <p:spPr>
          <a:xfrm>
            <a:off x="731520" y="3977639"/>
            <a:ext cx="5257800" cy="2331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300" b="1">
                <a:solidFill>
                  <a:srgbClr val="1E3A8A"/>
                </a:solidFill>
              </a:defRPr>
            </a:pPr>
            <a:r>
              <a:t>Module 3: Hybrid RAG Retrieval Engine</a:t>
            </a:r>
          </a:p>
          <a:p>
            <a:pPr>
              <a:spcBef>
                <a:spcPts val="400"/>
              </a:spcBef>
              <a:defRPr sz="1100">
                <a:solidFill>
                  <a:srgbClr val="334155"/>
                </a:solidFill>
              </a:defRPr>
            </a:pPr>
            <a:r>
              <a:t>• Parallel retrieval: Dense vector search in ChromaDB (MiniLM-L6-v2) + Sparse BM25 keyword search.</a:t>
            </a:r>
          </a:p>
          <a:p>
            <a:pPr>
              <a:spcBef>
                <a:spcPts val="400"/>
              </a:spcBef>
              <a:defRPr sz="1100">
                <a:solidFill>
                  <a:srgbClr val="334155"/>
                </a:solidFill>
              </a:defRPr>
            </a:pPr>
            <a:r>
              <a:t>• Reciprocal Rank Fusion (RRF, k=60) merges semantic intent and exact temple terminology.</a:t>
            </a:r>
          </a:p>
          <a:p>
            <a:pPr>
              <a:spcBef>
                <a:spcPts val="400"/>
              </a:spcBef>
              <a:defRPr sz="1100">
                <a:solidFill>
                  <a:srgbClr val="334155"/>
                </a:solidFill>
              </a:defRPr>
            </a:pPr>
            <a:r>
              <a:t>• Cross-Encoder neural reranking (ms-marco-MiniLM-L-6-v2) isolates the top 5 most relevant passages.</a:t>
            </a:r>
          </a:p>
        </p:txBody>
      </p:sp>
      <p:sp>
        <p:nvSpPr>
          <p:cNvPr id="8" name="Rounded Rectangle 7"/>
          <p:cNvSpPr/>
          <p:nvPr/>
        </p:nvSpPr>
        <p:spPr>
          <a:xfrm>
            <a:off x="6172200" y="3977639"/>
            <a:ext cx="5257800" cy="2331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300" b="1">
                <a:solidFill>
                  <a:srgbClr val="1E3A8A"/>
                </a:solidFill>
              </a:defRPr>
            </a:pPr>
            <a:r>
              <a:t>Module 4: Grounded LLM Response Generation</a:t>
            </a:r>
          </a:p>
          <a:p>
            <a:pPr>
              <a:spcBef>
                <a:spcPts val="400"/>
              </a:spcBef>
              <a:defRPr sz="1100">
                <a:solidFill>
                  <a:srgbClr val="334155"/>
                </a:solidFill>
              </a:defRPr>
            </a:pPr>
            <a:r>
              <a:t>• Local Ollama LLM server running phi3:mini (3.8B parameters) with prompt injection defense.</a:t>
            </a:r>
          </a:p>
          <a:p>
            <a:pPr>
              <a:spcBef>
                <a:spcPts val="400"/>
              </a:spcBef>
              <a:defRPr sz="1100">
                <a:solidFill>
                  <a:srgbClr val="334155"/>
                </a:solidFill>
              </a:defRPr>
            </a:pPr>
            <a:r>
              <a:t>• Grounding Guard (score &gt;= -6.0): returns safe bilingual fallback if evidence is insufficient.</a:t>
            </a:r>
          </a:p>
          <a:p>
            <a:pPr>
              <a:spcBef>
                <a:spcPts val="400"/>
              </a:spcBef>
              <a:defRPr sz="1100">
                <a:solidFill>
                  <a:srgbClr val="334155"/>
                </a:solidFill>
              </a:defRPr>
            </a:pPr>
            <a:r>
              <a:t>• Server-authoritative citations: inline markers [1], [2] linked to verified database chunks.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B45309"/>
                </a:solidFill>
              </a:defRPr>
            </a:pPr>
            <a:r>
              <a:t>MODULE DESCRIPTION — PART II</a:t>
            </a:r>
          </a:p>
        </p:txBody>
      </p:sp>
      <p:sp>
        <p:nvSpPr>
          <p:cNvPr id="3" name="TextBox 2"/>
          <p:cNvSpPr txBox="1"/>
          <p:nvPr/>
        </p:nvSpPr>
        <p:spPr>
          <a:xfrm>
            <a:off x="731520" y="685800"/>
            <a:ext cx="10698480" cy="594360"/>
          </a:xfrm>
          <a:prstGeom prst="rect">
            <a:avLst/>
          </a:prstGeom>
          <a:noFill/>
        </p:spPr>
        <p:txBody>
          <a:bodyPr wrap="square" lIns="0" rIns="0" tIns="0" bIns="0">
            <a:spAutoFit/>
          </a:bodyPr>
          <a:lstStyle/>
          <a:p>
            <a:pPr>
              <a:defRPr sz="2200" b="1">
                <a:solidFill>
                  <a:srgbClr val="1E3A8A"/>
                </a:solidFill>
              </a:defRPr>
            </a:pPr>
            <a:r>
              <a:t>Multilingual, Voice, Heritage Discovery &amp; Administration</a:t>
            </a:r>
          </a:p>
        </p:txBody>
      </p:sp>
      <p:sp>
        <p:nvSpPr>
          <p:cNvPr id="4" name="Rectangle 3"/>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5257800" cy="2331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300" b="1">
                <a:solidFill>
                  <a:srgbClr val="1E3A8A"/>
                </a:solidFill>
              </a:defRPr>
            </a:pPr>
            <a:r>
              <a:t>Module 5: Multilingual &amp; Translation Engine</a:t>
            </a:r>
          </a:p>
          <a:p>
            <a:pPr>
              <a:spcBef>
                <a:spcPts val="400"/>
              </a:spcBef>
              <a:defRPr sz="1100">
                <a:solidFill>
                  <a:srgbClr val="334155"/>
                </a:solidFill>
              </a:defRPr>
            </a:pPr>
            <a:r>
              <a:t>• Meta NLLB-200 (600M) neural model running offline for Kannada &lt;-&gt; English translation.</a:t>
            </a:r>
          </a:p>
          <a:p>
            <a:pPr>
              <a:spcBef>
                <a:spcPts val="400"/>
              </a:spcBef>
              <a:defRPr sz="1100">
                <a:solidFill>
                  <a:srgbClr val="334155"/>
                </a:solidFill>
              </a:defRPr>
            </a:pPr>
            <a:r>
              <a:t>• Unicode script analysis (U+0C80–U+0CFF) for instant, zero-latency Kannada language detection.</a:t>
            </a:r>
          </a:p>
          <a:p>
            <a:pPr>
              <a:spcBef>
                <a:spcPts val="400"/>
              </a:spcBef>
              <a:defRPr sz="1100">
                <a:solidFill>
                  <a:srgbClr val="334155"/>
                </a:solidFill>
              </a:defRPr>
            </a:pPr>
            <a:r>
              <a:t>• Preserves temple proper nouns (Chennakeshava, Shantala Devi, Darpana Sundari, Hoysala).</a:t>
            </a:r>
          </a:p>
        </p:txBody>
      </p:sp>
      <p:sp>
        <p:nvSpPr>
          <p:cNvPr id="6" name="Rounded Rectangle 5"/>
          <p:cNvSpPr/>
          <p:nvPr/>
        </p:nvSpPr>
        <p:spPr>
          <a:xfrm>
            <a:off x="6172200" y="1508760"/>
            <a:ext cx="5257800" cy="2331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300" b="1">
                <a:solidFill>
                  <a:srgbClr val="1E3A8A"/>
                </a:solidFill>
              </a:defRPr>
            </a:pPr>
            <a:r>
              <a:t>Module 6: Voice Processing Engine (STT &amp; TTS)</a:t>
            </a:r>
          </a:p>
          <a:p>
            <a:pPr>
              <a:spcBef>
                <a:spcPts val="400"/>
              </a:spcBef>
              <a:defRPr sz="1100">
                <a:solidFill>
                  <a:srgbClr val="334155"/>
                </a:solidFill>
              </a:defRPr>
            </a:pPr>
            <a:r>
              <a:t>• Faster-Whisper (CTranslate2 int8 on CPU) converts English and Kannada speech to text.</a:t>
            </a:r>
          </a:p>
          <a:p>
            <a:pPr>
              <a:spcBef>
                <a:spcPts val="400"/>
              </a:spcBef>
              <a:defRPr sz="1100">
                <a:solidFill>
                  <a:srgbClr val="334155"/>
                </a:solidFill>
              </a:defRPr>
            </a:pPr>
            <a:r>
              <a:t>• Piper ONNX TTS synthesizes natural English audio; Meta MMS-TTS synthesizes Kannada.</a:t>
            </a:r>
          </a:p>
          <a:p>
            <a:pPr>
              <a:spcBef>
                <a:spcPts val="400"/>
              </a:spcBef>
              <a:defRPr sz="1100">
                <a:solidFill>
                  <a:srgbClr val="334155"/>
                </a:solidFill>
              </a:defRPr>
            </a:pPr>
            <a:r>
              <a:t>• Audio playback strictly bound to server-validated assistant messages to prevent spoofing.</a:t>
            </a:r>
          </a:p>
        </p:txBody>
      </p:sp>
      <p:sp>
        <p:nvSpPr>
          <p:cNvPr id="7" name="Rounded Rectangle 6"/>
          <p:cNvSpPr/>
          <p:nvPr/>
        </p:nvSpPr>
        <p:spPr>
          <a:xfrm>
            <a:off x="731520" y="3977639"/>
            <a:ext cx="5257800" cy="2331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300" b="1">
                <a:solidFill>
                  <a:srgbClr val="1E3A8A"/>
                </a:solidFill>
              </a:defRPr>
            </a:pPr>
            <a:r>
              <a:t>Module 7: Temple Attractions &amp; Interactive Map</a:t>
            </a:r>
          </a:p>
          <a:p>
            <a:pPr>
              <a:spcBef>
                <a:spcPts val="400"/>
              </a:spcBef>
              <a:defRPr sz="1100">
                <a:solidFill>
                  <a:srgbClr val="334155"/>
                </a:solidFill>
              </a:defRPr>
            </a:pPr>
            <a:r>
              <a:t>• Interactive Leaflet map of Beluru temple complex with custom Hoysala Kalasha markers.</a:t>
            </a:r>
          </a:p>
          <a:p>
            <a:pPr>
              <a:spcBef>
                <a:spcPts val="400"/>
              </a:spcBef>
              <a:defRPr sz="1100">
                <a:solidFill>
                  <a:srgbClr val="334155"/>
                </a:solidFill>
              </a:defRPr>
            </a:pPr>
            <a:r>
              <a:t>• Curated profiles for 42 Madanika bracket figures, Star-shaped Jagati platform, Narasimha pillar.</a:t>
            </a:r>
          </a:p>
          <a:p>
            <a:pPr>
              <a:spcBef>
                <a:spcPts val="400"/>
              </a:spcBef>
              <a:defRPr sz="1100">
                <a:solidFill>
                  <a:srgbClr val="334155"/>
                </a:solidFill>
              </a:defRPr>
            </a:pPr>
            <a:r>
              <a:t>• Suggested query pills for one-tap exploration of temple history, timings, and rituals.</a:t>
            </a:r>
          </a:p>
        </p:txBody>
      </p:sp>
      <p:sp>
        <p:nvSpPr>
          <p:cNvPr id="8" name="Rounded Rectangle 7"/>
          <p:cNvSpPr/>
          <p:nvPr/>
        </p:nvSpPr>
        <p:spPr>
          <a:xfrm>
            <a:off x="6172200" y="3977639"/>
            <a:ext cx="5257800" cy="2331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300" b="1">
                <a:solidFill>
                  <a:srgbClr val="1E3A8A"/>
                </a:solidFill>
              </a:defRPr>
            </a:pPr>
            <a:r>
              <a:t>Module 8: Admin Dashboard &amp; System Security</a:t>
            </a:r>
          </a:p>
          <a:p>
            <a:pPr>
              <a:spcBef>
                <a:spcPts val="400"/>
              </a:spcBef>
              <a:defRPr sz="1100">
                <a:solidFill>
                  <a:srgbClr val="334155"/>
                </a:solidFill>
              </a:defRPr>
            </a:pPr>
            <a:r>
              <a:t>• 4-tier Role-Based Access Control (SUPER_ADMIN, SITE_CURATOR, OPERATOR, VIEWER).</a:t>
            </a:r>
          </a:p>
          <a:p>
            <a:pPr>
              <a:spcBef>
                <a:spcPts val="400"/>
              </a:spcBef>
              <a:defRPr sz="1100">
                <a:solidFill>
                  <a:srgbClr val="334155"/>
                </a:solidFill>
              </a:defRPr>
            </a:pPr>
            <a:r>
              <a:t>• Argon2id password hashing + rotating JWT authentication for administrative operations.</a:t>
            </a:r>
          </a:p>
          <a:p>
            <a:pPr>
              <a:spcBef>
                <a:spcPts val="400"/>
              </a:spcBef>
              <a:defRPr sz="1100">
                <a:solidFill>
                  <a:srgbClr val="334155"/>
                </a:solidFill>
              </a:defRPr>
            </a:pPr>
            <a:r>
              <a:t>• RAG Diagnostics Workbench to inspect Dense/BM25 scores and trigger instant rollback.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B45309"/>
                </a:solidFill>
              </a:defRPr>
            </a:pPr>
            <a:r>
              <a:t>TECHNICAL IMPLEMENTATION</a:t>
            </a:r>
          </a:p>
        </p:txBody>
      </p:sp>
      <p:sp>
        <p:nvSpPr>
          <p:cNvPr id="3" name="TextBox 2"/>
          <p:cNvSpPr txBox="1"/>
          <p:nvPr/>
        </p:nvSpPr>
        <p:spPr>
          <a:xfrm>
            <a:off x="731520" y="685800"/>
            <a:ext cx="10698480" cy="594360"/>
          </a:xfrm>
          <a:prstGeom prst="rect">
            <a:avLst/>
          </a:prstGeom>
          <a:noFill/>
        </p:spPr>
        <p:txBody>
          <a:bodyPr wrap="square" lIns="0" rIns="0" tIns="0" bIns="0">
            <a:spAutoFit/>
          </a:bodyPr>
          <a:lstStyle/>
          <a:p>
            <a:pPr>
              <a:defRPr sz="2200" b="1">
                <a:solidFill>
                  <a:srgbClr val="1E3A8A"/>
                </a:solidFill>
              </a:defRPr>
            </a:pPr>
            <a:r>
              <a:t>Important Implementation Steps: End-to-End Processing Flow</a:t>
            </a:r>
          </a:p>
        </p:txBody>
      </p:sp>
      <p:sp>
        <p:nvSpPr>
          <p:cNvPr id="4" name="Rectangle 3"/>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5257800" cy="11155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28016"/>
          <a:lstStyle/>
          <a:p>
            <a:pPr algn="ctr">
              <a:defRPr sz="1200" b="1">
                <a:solidFill>
                  <a:srgbClr val="1E3A8A"/>
                </a:solidFill>
              </a:defRPr>
            </a:pPr>
            <a:r>
              <a:t>Step 1: Ingestion &amp; Normalization</a:t>
            </a:r>
          </a:p>
          <a:p>
            <a:pPr>
              <a:spcBef>
                <a:spcPts val="200"/>
              </a:spcBef>
              <a:defRPr sz="1050">
                <a:solidFill>
                  <a:srgbClr val="334155"/>
                </a:solidFill>
              </a:defRPr>
            </a:pPr>
            <a:r>
              <a:t>Admins upload verified Beluru PDFs. Text is extracted via PyMuPDF, normalized to Unicode NFC, and chunked into ~800 char semantic segments with 120 char overlap.</a:t>
            </a:r>
          </a:p>
        </p:txBody>
      </p:sp>
      <p:sp>
        <p:nvSpPr>
          <p:cNvPr id="6" name="Rounded Rectangle 5"/>
          <p:cNvSpPr/>
          <p:nvPr/>
        </p:nvSpPr>
        <p:spPr>
          <a:xfrm>
            <a:off x="6172200" y="1508760"/>
            <a:ext cx="5257800" cy="11155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28016"/>
          <a:lstStyle/>
          <a:p>
            <a:pPr algn="ctr">
              <a:defRPr sz="1200" b="1">
                <a:solidFill>
                  <a:srgbClr val="1E3A8A"/>
                </a:solidFill>
              </a:defRPr>
            </a:pPr>
            <a:r>
              <a:t>Step 2: Vector Indexing &amp; ChromaDB</a:t>
            </a:r>
          </a:p>
          <a:p>
            <a:pPr>
              <a:spcBef>
                <a:spcPts val="200"/>
              </a:spcBef>
              <a:defRPr sz="1050">
                <a:solidFill>
                  <a:srgbClr val="334155"/>
                </a:solidFill>
              </a:defRPr>
            </a:pPr>
            <a:r>
              <a:t>Chunk embeddings generated via all-MiniLM-L6-v2 (384-dim). Indexed into isolated generation-specific ChromaDB collections with MySQL metadata synchronization.</a:t>
            </a:r>
          </a:p>
        </p:txBody>
      </p:sp>
      <p:sp>
        <p:nvSpPr>
          <p:cNvPr id="7" name="Rounded Rectangle 6"/>
          <p:cNvSpPr/>
          <p:nvPr/>
        </p:nvSpPr>
        <p:spPr>
          <a:xfrm>
            <a:off x="731520" y="2743200"/>
            <a:ext cx="5257800" cy="11155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28016"/>
          <a:lstStyle/>
          <a:p>
            <a:pPr algn="ctr">
              <a:defRPr sz="1200" b="1">
                <a:solidFill>
                  <a:srgbClr val="1E3A8A"/>
                </a:solidFill>
              </a:defRPr>
            </a:pPr>
            <a:r>
              <a:t>Step 3: Query &amp; Language Detection</a:t>
            </a:r>
          </a:p>
          <a:p>
            <a:pPr>
              <a:spcBef>
                <a:spcPts val="200"/>
              </a:spcBef>
              <a:defRPr sz="1050">
                <a:solidFill>
                  <a:srgbClr val="334155"/>
                </a:solidFill>
              </a:defRPr>
            </a:pPr>
            <a:r>
              <a:t>User query (text or voice) inspected via Unicode script detection. If voice, Faster-Whisper transcribes audio. If Kannada, NLLB-200 translates query to English for retrieval.</a:t>
            </a:r>
          </a:p>
        </p:txBody>
      </p:sp>
      <p:sp>
        <p:nvSpPr>
          <p:cNvPr id="8" name="Rounded Rectangle 7"/>
          <p:cNvSpPr/>
          <p:nvPr/>
        </p:nvSpPr>
        <p:spPr>
          <a:xfrm>
            <a:off x="6172200" y="2743200"/>
            <a:ext cx="5257800" cy="11155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28016"/>
          <a:lstStyle/>
          <a:p>
            <a:pPr algn="ctr">
              <a:defRPr sz="1200" b="1">
                <a:solidFill>
                  <a:srgbClr val="1E3A8A"/>
                </a:solidFill>
              </a:defRPr>
            </a:pPr>
            <a:r>
              <a:t>Step 4: Parallel Hybrid Retrieval</a:t>
            </a:r>
          </a:p>
          <a:p>
            <a:pPr>
              <a:spcBef>
                <a:spcPts val="200"/>
              </a:spcBef>
              <a:defRPr sz="1050">
                <a:solidFill>
                  <a:srgbClr val="334155"/>
                </a:solidFill>
              </a:defRPr>
            </a:pPr>
            <a:r>
              <a:t>Simultaneous dense vector search (ChromaDB) and sparse keyword search (Okapi BM25). Merged using Reciprocal Rank Fusion (RRF, k=60) from top-25 candidates each.</a:t>
            </a:r>
          </a:p>
        </p:txBody>
      </p:sp>
      <p:sp>
        <p:nvSpPr>
          <p:cNvPr id="9" name="Rounded Rectangle 8"/>
          <p:cNvSpPr/>
          <p:nvPr/>
        </p:nvSpPr>
        <p:spPr>
          <a:xfrm>
            <a:off x="731520" y="3977639"/>
            <a:ext cx="5257800" cy="11155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28016"/>
          <a:lstStyle/>
          <a:p>
            <a:pPr algn="ctr">
              <a:defRPr sz="1200" b="1">
                <a:solidFill>
                  <a:srgbClr val="1E3A8A"/>
                </a:solidFill>
              </a:defRPr>
            </a:pPr>
            <a:r>
              <a:t>Step 5: Cross-Encoder Reranking</a:t>
            </a:r>
          </a:p>
          <a:p>
            <a:pPr>
              <a:spcBef>
                <a:spcPts val="200"/>
              </a:spcBef>
              <a:defRPr sz="1050">
                <a:solidFill>
                  <a:srgbClr val="334155"/>
                </a:solidFill>
              </a:defRPr>
            </a:pPr>
            <a:r>
              <a:t>Neural Cross-Encoder (ms-marco-MiniLM-L-6-v2) scores top-15 fused chunks. Selects top-5 most relevant chunks with joint query-passage attention.</a:t>
            </a:r>
          </a:p>
        </p:txBody>
      </p:sp>
      <p:sp>
        <p:nvSpPr>
          <p:cNvPr id="10" name="Rounded Rectangle 9"/>
          <p:cNvSpPr/>
          <p:nvPr/>
        </p:nvSpPr>
        <p:spPr>
          <a:xfrm>
            <a:off x="6172200" y="3977639"/>
            <a:ext cx="5257800" cy="11155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28016"/>
          <a:lstStyle/>
          <a:p>
            <a:pPr algn="ctr">
              <a:defRPr sz="1200" b="1">
                <a:solidFill>
                  <a:srgbClr val="1E3A8A"/>
                </a:solidFill>
              </a:defRPr>
            </a:pPr>
            <a:r>
              <a:t>Step 6: Grounding Guard Verification</a:t>
            </a:r>
          </a:p>
          <a:p>
            <a:pPr>
              <a:spcBef>
                <a:spcPts val="200"/>
              </a:spcBef>
              <a:defRPr sz="1050">
                <a:solidFill>
                  <a:srgbClr val="334155"/>
                </a:solidFill>
              </a:defRPr>
            </a:pPr>
            <a:r>
              <a:t>Evaluates top score against strict threshold (&gt;= -6.0). If insufficient evidence, returns safe bilingual fallback without invoking LLM, preventing hallucination.</a:t>
            </a:r>
          </a:p>
        </p:txBody>
      </p:sp>
      <p:sp>
        <p:nvSpPr>
          <p:cNvPr id="11" name="Rounded Rectangle 10"/>
          <p:cNvSpPr/>
          <p:nvPr/>
        </p:nvSpPr>
        <p:spPr>
          <a:xfrm>
            <a:off x="731520" y="5212080"/>
            <a:ext cx="5257800" cy="11155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28016"/>
          <a:lstStyle/>
          <a:p>
            <a:pPr algn="ctr">
              <a:defRPr sz="1200" b="1">
                <a:solidFill>
                  <a:srgbClr val="1E3A8A"/>
                </a:solidFill>
              </a:defRPr>
            </a:pPr>
            <a:r>
              <a:t>Step 7: Local LLM Generation &amp; SSE</a:t>
            </a:r>
          </a:p>
          <a:p>
            <a:pPr>
              <a:spcBef>
                <a:spcPts val="200"/>
              </a:spcBef>
              <a:defRPr sz="1050">
                <a:solidFill>
                  <a:srgbClr val="334155"/>
                </a:solidFill>
              </a:defRPr>
            </a:pPr>
            <a:r>
              <a:t>Ollama phi3:mini generates grounded 2-4 sentence response using retrieved context only. Real-time token streaming delivered via Server-Sent Events (SSE).</a:t>
            </a:r>
          </a:p>
        </p:txBody>
      </p:sp>
      <p:sp>
        <p:nvSpPr>
          <p:cNvPr id="12" name="Rounded Rectangle 11"/>
          <p:cNvSpPr/>
          <p:nvPr/>
        </p:nvSpPr>
        <p:spPr>
          <a:xfrm>
            <a:off x="6172200" y="5212080"/>
            <a:ext cx="5257800" cy="11155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28016"/>
          <a:lstStyle/>
          <a:p>
            <a:pPr algn="ctr">
              <a:defRPr sz="1200" b="1">
                <a:solidFill>
                  <a:srgbClr val="1E3A8A"/>
                </a:solidFill>
              </a:defRPr>
            </a:pPr>
            <a:r>
              <a:t>Step 8: Multimodal Delivery &amp; TTS</a:t>
            </a:r>
          </a:p>
          <a:p>
            <a:pPr>
              <a:spcBef>
                <a:spcPts val="200"/>
              </a:spcBef>
              <a:defRPr sz="1050">
                <a:solidFill>
                  <a:srgbClr val="334155"/>
                </a:solidFill>
              </a:defRPr>
            </a:pPr>
            <a:r>
              <a:t>Citations verified against MySQL. If Kannada session, response translated via NLLB-200. Piper/MMS-TTS synthesizes audio on demand.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B45309"/>
                </a:solidFill>
              </a:defRPr>
            </a:pPr>
            <a:r>
              <a:t>TECHNICAL IMPLEMENTATION</a:t>
            </a:r>
          </a:p>
        </p:txBody>
      </p:sp>
      <p:sp>
        <p:nvSpPr>
          <p:cNvPr id="3" name="TextBox 2"/>
          <p:cNvSpPr txBox="1"/>
          <p:nvPr/>
        </p:nvSpPr>
        <p:spPr>
          <a:xfrm>
            <a:off x="731520" y="685800"/>
            <a:ext cx="10698480" cy="594360"/>
          </a:xfrm>
          <a:prstGeom prst="rect">
            <a:avLst/>
          </a:prstGeom>
          <a:noFill/>
        </p:spPr>
        <p:txBody>
          <a:bodyPr wrap="square" lIns="0" rIns="0" tIns="0" bIns="0">
            <a:spAutoFit/>
          </a:bodyPr>
          <a:lstStyle/>
          <a:p>
            <a:pPr>
              <a:defRPr sz="2200" b="1">
                <a:solidFill>
                  <a:srgbClr val="1E3A8A"/>
                </a:solidFill>
              </a:defRPr>
            </a:pPr>
            <a:r>
              <a:t>Key Algorithms &amp; Mathematical Formulations</a:t>
            </a:r>
          </a:p>
        </p:txBody>
      </p:sp>
      <p:sp>
        <p:nvSpPr>
          <p:cNvPr id="4" name="Rectangle 3"/>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554480"/>
          <a:ext cx="10728655" cy="4754880"/>
        </p:xfrm>
        <a:graphic>
          <a:graphicData uri="http://schemas.openxmlformats.org/drawingml/2006/table">
            <a:tbl>
              <a:tblPr firstRow="1" bandRow="1">
                <a:tableStyleId>{5C22544A-7EE6-4342-B048-85BDC9FD1C3A}</a:tableStyleId>
              </a:tblPr>
              <a:tblGrid>
                <a:gridCol w="2011680"/>
                <a:gridCol w="1645920"/>
                <a:gridCol w="3474720"/>
                <a:gridCol w="3596335"/>
              </a:tblGrid>
              <a:tr h="679268">
                <a:tc>
                  <a:txBody>
                    <a:bodyPr/>
                    <a:lstStyle/>
                    <a:p>
                      <a:pPr>
                        <a:defRPr sz="1100" b="1">
                          <a:solidFill>
                            <a:srgbClr val="FFFFFF"/>
                          </a:solidFill>
                        </a:defRPr>
                      </a:pPr>
                      <a:r>
                        <a:t>Algorithm / Model</a:t>
                      </a:r>
                    </a:p>
                  </a:txBody>
                  <a:tcPr anchor="ctr">
                    <a:solidFill>
                      <a:srgbClr val="1E3A8A"/>
                    </a:solidFill>
                  </a:tcPr>
                </a:tc>
                <a:tc>
                  <a:txBody>
                    <a:bodyPr/>
                    <a:lstStyle/>
                    <a:p>
                      <a:pPr>
                        <a:defRPr sz="1100" b="1">
                          <a:solidFill>
                            <a:srgbClr val="FFFFFF"/>
                          </a:solidFill>
                        </a:defRPr>
                      </a:pPr>
                      <a:r>
                        <a:t>Pipeline Stage</a:t>
                      </a:r>
                    </a:p>
                  </a:txBody>
                  <a:tcPr anchor="ctr">
                    <a:solidFill>
                      <a:srgbClr val="1E3A8A"/>
                    </a:solidFill>
                  </a:tcPr>
                </a:tc>
                <a:tc>
                  <a:txBody>
                    <a:bodyPr/>
                    <a:lstStyle/>
                    <a:p>
                      <a:pPr>
                        <a:defRPr sz="1100" b="1">
                          <a:solidFill>
                            <a:srgbClr val="FFFFFF"/>
                          </a:solidFill>
                        </a:defRPr>
                      </a:pPr>
                      <a:r>
                        <a:t>Mathematical / Technical Basis</a:t>
                      </a:r>
                    </a:p>
                  </a:txBody>
                  <a:tcPr anchor="ctr">
                    <a:solidFill>
                      <a:srgbClr val="1E3A8A"/>
                    </a:solidFill>
                  </a:tcPr>
                </a:tc>
                <a:tc>
                  <a:txBody>
                    <a:bodyPr/>
                    <a:lstStyle/>
                    <a:p>
                      <a:pPr>
                        <a:defRPr sz="1100" b="1">
                          <a:solidFill>
                            <a:srgbClr val="FFFFFF"/>
                          </a:solidFill>
                        </a:defRPr>
                      </a:pPr>
                      <a:r>
                        <a:t>Role in Temple Guide Platform</a:t>
                      </a:r>
                    </a:p>
                  </a:txBody>
                  <a:tcPr anchor="ctr">
                    <a:solidFill>
                      <a:srgbClr val="1E3A8A"/>
                    </a:solidFill>
                  </a:tcPr>
                </a:tc>
              </a:tr>
              <a:tr h="679268">
                <a:tc>
                  <a:txBody>
                    <a:bodyPr/>
                    <a:lstStyle/>
                    <a:p>
                      <a:pPr>
                        <a:defRPr sz="1000" b="1">
                          <a:solidFill>
                            <a:srgbClr val="1E3A8A"/>
                          </a:solidFill>
                        </a:defRPr>
                      </a:pPr>
                      <a:r>
                        <a:t>Reciprocal Rank Fusion (RRF)</a:t>
                      </a:r>
                    </a:p>
                  </a:txBody>
                  <a:tcPr anchor="ctr">
                    <a:solidFill>
                      <a:srgbClr val="F8FAFC"/>
                    </a:solidFill>
                  </a:tcPr>
                </a:tc>
                <a:tc>
                  <a:txBody>
                    <a:bodyPr/>
                    <a:lstStyle/>
                    <a:p>
                      <a:pPr>
                        <a:defRPr sz="1000">
                          <a:solidFill>
                            <a:srgbClr val="334155"/>
                          </a:solidFill>
                        </a:defRPr>
                      </a:pPr>
                      <a:r>
                        <a:t>Hybrid Retrieval</a:t>
                      </a:r>
                    </a:p>
                  </a:txBody>
                  <a:tcPr anchor="ctr">
                    <a:solidFill>
                      <a:srgbClr val="F8FAFC"/>
                    </a:solidFill>
                  </a:tcPr>
                </a:tc>
                <a:tc>
                  <a:txBody>
                    <a:bodyPr/>
                    <a:lstStyle/>
                    <a:p>
                      <a:pPr>
                        <a:defRPr sz="1000">
                          <a:solidFill>
                            <a:srgbClr val="334155"/>
                          </a:solidFill>
                        </a:defRPr>
                      </a:pPr>
                      <a:r>
                        <a:t>RRF(d) = Σ 1 / (60 + r_m(d))</a:t>
                      </a:r>
                    </a:p>
                  </a:txBody>
                  <a:tcPr anchor="ctr">
                    <a:solidFill>
                      <a:srgbClr val="F8FAFC"/>
                    </a:solidFill>
                  </a:tcPr>
                </a:tc>
                <a:tc>
                  <a:txBody>
                    <a:bodyPr/>
                    <a:lstStyle/>
                    <a:p>
                      <a:pPr>
                        <a:defRPr sz="1000">
                          <a:solidFill>
                            <a:srgbClr val="334155"/>
                          </a:solidFill>
                        </a:defRPr>
                      </a:pPr>
                      <a:r>
                        <a:t>Fuses dense vector semantics and BM25 sparse keyword rankings without score normalization bias.</a:t>
                      </a:r>
                    </a:p>
                  </a:txBody>
                  <a:tcPr anchor="ctr">
                    <a:solidFill>
                      <a:srgbClr val="F8FAFC"/>
                    </a:solidFill>
                  </a:tcPr>
                </a:tc>
              </a:tr>
              <a:tr h="679268">
                <a:tc>
                  <a:txBody>
                    <a:bodyPr/>
                    <a:lstStyle/>
                    <a:p>
                      <a:pPr>
                        <a:defRPr sz="1000" b="1">
                          <a:solidFill>
                            <a:srgbClr val="1E3A8A"/>
                          </a:solidFill>
                        </a:defRPr>
                      </a:pPr>
                      <a:r>
                        <a:t>Cross-Encoder Reranking</a:t>
                      </a:r>
                    </a:p>
                  </a:txBody>
                  <a:tcPr anchor="ctr">
                    <a:solidFill>
                      <a:srgbClr val="FFFFFF"/>
                    </a:solidFill>
                  </a:tcPr>
                </a:tc>
                <a:tc>
                  <a:txBody>
                    <a:bodyPr/>
                    <a:lstStyle/>
                    <a:p>
                      <a:pPr>
                        <a:defRPr sz="1000">
                          <a:solidFill>
                            <a:srgbClr val="334155"/>
                          </a:solidFill>
                        </a:defRPr>
                      </a:pPr>
                      <a:r>
                        <a:t>Evidence Scoring</a:t>
                      </a:r>
                    </a:p>
                  </a:txBody>
                  <a:tcPr anchor="ctr">
                    <a:solidFill>
                      <a:srgbClr val="FFFFFF"/>
                    </a:solidFill>
                  </a:tcPr>
                </a:tc>
                <a:tc>
                  <a:txBody>
                    <a:bodyPr/>
                    <a:lstStyle/>
                    <a:p>
                      <a:pPr>
                        <a:defRPr sz="1000">
                          <a:solidFill>
                            <a:srgbClr val="334155"/>
                          </a:solidFill>
                        </a:defRPr>
                      </a:pPr>
                      <a:r>
                        <a:t>s(q, d) = Softmax(W · BERT(q ○ d))</a:t>
                      </a:r>
                    </a:p>
                  </a:txBody>
                  <a:tcPr anchor="ctr">
                    <a:solidFill>
                      <a:srgbClr val="FFFFFF"/>
                    </a:solidFill>
                  </a:tcPr>
                </a:tc>
                <a:tc>
                  <a:txBody>
                    <a:bodyPr/>
                    <a:lstStyle/>
                    <a:p>
                      <a:pPr>
                        <a:defRPr sz="1000">
                          <a:solidFill>
                            <a:srgbClr val="334155"/>
                          </a:solidFill>
                        </a:defRPr>
                      </a:pPr>
                      <a:r>
                        <a:t>Joint self-attention over query + chunk text; identifies the top 5 most factual evidence chunks.</a:t>
                      </a:r>
                    </a:p>
                  </a:txBody>
                  <a:tcPr anchor="ctr">
                    <a:solidFill>
                      <a:srgbClr val="FFFFFF"/>
                    </a:solidFill>
                  </a:tcPr>
                </a:tc>
              </a:tr>
              <a:tr h="679268">
                <a:tc>
                  <a:txBody>
                    <a:bodyPr/>
                    <a:lstStyle/>
                    <a:p>
                      <a:pPr>
                        <a:defRPr sz="1000" b="1">
                          <a:solidFill>
                            <a:srgbClr val="1E3A8A"/>
                          </a:solidFill>
                        </a:defRPr>
                      </a:pPr>
                      <a:r>
                        <a:t>Okapi BM25 Keyword Search</a:t>
                      </a:r>
                    </a:p>
                  </a:txBody>
                  <a:tcPr anchor="ctr">
                    <a:solidFill>
                      <a:srgbClr val="F8FAFC"/>
                    </a:solidFill>
                  </a:tcPr>
                </a:tc>
                <a:tc>
                  <a:txBody>
                    <a:bodyPr/>
                    <a:lstStyle/>
                    <a:p>
                      <a:pPr>
                        <a:defRPr sz="1000">
                          <a:solidFill>
                            <a:srgbClr val="334155"/>
                          </a:solidFill>
                        </a:defRPr>
                      </a:pPr>
                      <a:r>
                        <a:t>Sparse Retrieval</a:t>
                      </a:r>
                    </a:p>
                  </a:txBody>
                  <a:tcPr anchor="ctr">
                    <a:solidFill>
                      <a:srgbClr val="F8FAFC"/>
                    </a:solidFill>
                  </a:tcPr>
                </a:tc>
                <a:tc>
                  <a:txBody>
                    <a:bodyPr/>
                    <a:lstStyle/>
                    <a:p>
                      <a:pPr>
                        <a:defRPr sz="1000">
                          <a:solidFill>
                            <a:srgbClr val="334155"/>
                          </a:solidFill>
                        </a:defRPr>
                      </a:pPr>
                      <a:r>
                        <a:t>Score = Σ IDF · (f · (k1+1)) / (f + k1·(1-b+b·|D|/avgdl))</a:t>
                      </a:r>
                    </a:p>
                  </a:txBody>
                  <a:tcPr anchor="ctr">
                    <a:solidFill>
                      <a:srgbClr val="F8FAFC"/>
                    </a:solidFill>
                  </a:tcPr>
                </a:tc>
                <a:tc>
                  <a:txBody>
                    <a:bodyPr/>
                    <a:lstStyle/>
                    <a:p>
                      <a:pPr>
                        <a:defRPr sz="1000">
                          <a:solidFill>
                            <a:srgbClr val="334155"/>
                          </a:solidFill>
                        </a:defRPr>
                      </a:pPr>
                      <a:r>
                        <a:t>Accurately retrieves exact temple historical entities, king names, and architectural terms.</a:t>
                      </a:r>
                    </a:p>
                  </a:txBody>
                  <a:tcPr anchor="ctr">
                    <a:solidFill>
                      <a:srgbClr val="F8FAFC"/>
                    </a:solidFill>
                  </a:tcPr>
                </a:tc>
              </a:tr>
              <a:tr h="679268">
                <a:tc>
                  <a:txBody>
                    <a:bodyPr/>
                    <a:lstStyle/>
                    <a:p>
                      <a:pPr>
                        <a:defRPr sz="1000" b="1">
                          <a:solidFill>
                            <a:srgbClr val="1E3A8A"/>
                          </a:solidFill>
                        </a:defRPr>
                      </a:pPr>
                      <a:r>
                        <a:t>Sentence-BERT (MiniLM-L6)</a:t>
                      </a:r>
                    </a:p>
                  </a:txBody>
                  <a:tcPr anchor="ctr">
                    <a:solidFill>
                      <a:srgbClr val="FFFFFF"/>
                    </a:solidFill>
                  </a:tcPr>
                </a:tc>
                <a:tc>
                  <a:txBody>
                    <a:bodyPr/>
                    <a:lstStyle/>
                    <a:p>
                      <a:pPr>
                        <a:defRPr sz="1000">
                          <a:solidFill>
                            <a:srgbClr val="334155"/>
                          </a:solidFill>
                        </a:defRPr>
                      </a:pPr>
                      <a:r>
                        <a:t>Vector Embeddings</a:t>
                      </a:r>
                    </a:p>
                  </a:txBody>
                  <a:tcPr anchor="ctr">
                    <a:solidFill>
                      <a:srgbClr val="FFFFFF"/>
                    </a:solidFill>
                  </a:tcPr>
                </a:tc>
                <a:tc>
                  <a:txBody>
                    <a:bodyPr/>
                    <a:lstStyle/>
                    <a:p>
                      <a:pPr>
                        <a:defRPr sz="1000">
                          <a:solidFill>
                            <a:srgbClr val="334155"/>
                          </a:solidFill>
                        </a:defRPr>
                      </a:pPr>
                      <a:r>
                        <a:t>E(t) = MeanPool(Transformer(t)), 384-dim</a:t>
                      </a:r>
                    </a:p>
                  </a:txBody>
                  <a:tcPr anchor="ctr">
                    <a:solidFill>
                      <a:srgbClr val="FFFFFF"/>
                    </a:solidFill>
                  </a:tcPr>
                </a:tc>
                <a:tc>
                  <a:txBody>
                    <a:bodyPr/>
                    <a:lstStyle/>
                    <a:p>
                      <a:pPr>
                        <a:defRPr sz="1000">
                          <a:solidFill>
                            <a:srgbClr val="334155"/>
                          </a:solidFill>
                        </a:defRPr>
                      </a:pPr>
                      <a:r>
                        <a:t>Dense semantic representation capturing contextual meaning in ChromaDB vector space.</a:t>
                      </a:r>
                    </a:p>
                  </a:txBody>
                  <a:tcPr anchor="ctr">
                    <a:solidFill>
                      <a:srgbClr val="FFFFFF"/>
                    </a:solidFill>
                  </a:tcPr>
                </a:tc>
              </a:tr>
              <a:tr h="679268">
                <a:tc>
                  <a:txBody>
                    <a:bodyPr/>
                    <a:lstStyle/>
                    <a:p>
                      <a:pPr>
                        <a:defRPr sz="1000" b="1">
                          <a:solidFill>
                            <a:srgbClr val="1E3A8A"/>
                          </a:solidFill>
                        </a:defRPr>
                      </a:pPr>
                      <a:r>
                        <a:t>Faster-Whisper (CTranslate2)</a:t>
                      </a:r>
                    </a:p>
                  </a:txBody>
                  <a:tcPr anchor="ctr">
                    <a:solidFill>
                      <a:srgbClr val="F8FAFC"/>
                    </a:solidFill>
                  </a:tcPr>
                </a:tc>
                <a:tc>
                  <a:txBody>
                    <a:bodyPr/>
                    <a:lstStyle/>
                    <a:p>
                      <a:pPr>
                        <a:defRPr sz="1000">
                          <a:solidFill>
                            <a:srgbClr val="334155"/>
                          </a:solidFill>
                        </a:defRPr>
                      </a:pPr>
                      <a:r>
                        <a:t>Speech-to-Text</a:t>
                      </a:r>
                    </a:p>
                  </a:txBody>
                  <a:tcPr anchor="ctr">
                    <a:solidFill>
                      <a:srgbClr val="F8FAFC"/>
                    </a:solidFill>
                  </a:tcPr>
                </a:tc>
                <a:tc>
                  <a:txBody>
                    <a:bodyPr/>
                    <a:lstStyle/>
                    <a:p>
                      <a:pPr>
                        <a:defRPr sz="1000">
                          <a:solidFill>
                            <a:srgbClr val="334155"/>
                          </a:solidFill>
                        </a:defRPr>
                      </a:pPr>
                      <a:r>
                        <a:t>8-bit integer quantization (int8) on CPU</a:t>
                      </a:r>
                    </a:p>
                  </a:txBody>
                  <a:tcPr anchor="ctr">
                    <a:solidFill>
                      <a:srgbClr val="F8FAFC"/>
                    </a:solidFill>
                  </a:tcPr>
                </a:tc>
                <a:tc>
                  <a:txBody>
                    <a:bodyPr/>
                    <a:lstStyle/>
                    <a:p>
                      <a:pPr>
                        <a:defRPr sz="1000">
                          <a:solidFill>
                            <a:srgbClr val="334155"/>
                          </a:solidFill>
                        </a:defRPr>
                      </a:pPr>
                      <a:r>
                        <a:t>Enables local offline speech transcription in English and Kannada with low RAM usage.</a:t>
                      </a:r>
                    </a:p>
                  </a:txBody>
                  <a:tcPr anchor="ctr">
                    <a:solidFill>
                      <a:srgbClr val="F8FAFC"/>
                    </a:solidFill>
                  </a:tcPr>
                </a:tc>
              </a:tr>
              <a:tr h="679272">
                <a:tc>
                  <a:txBody>
                    <a:bodyPr/>
                    <a:lstStyle/>
                    <a:p>
                      <a:pPr>
                        <a:defRPr sz="1000" b="1">
                          <a:solidFill>
                            <a:srgbClr val="1E3A8A"/>
                          </a:solidFill>
                        </a:defRPr>
                      </a:pPr>
                      <a:r>
                        <a:t>Argon2id Key Derivation</a:t>
                      </a:r>
                    </a:p>
                  </a:txBody>
                  <a:tcPr anchor="ctr">
                    <a:solidFill>
                      <a:srgbClr val="FFFFFF"/>
                    </a:solidFill>
                  </a:tcPr>
                </a:tc>
                <a:tc>
                  <a:txBody>
                    <a:bodyPr/>
                    <a:lstStyle/>
                    <a:p>
                      <a:pPr>
                        <a:defRPr sz="1000">
                          <a:solidFill>
                            <a:srgbClr val="334155"/>
                          </a:solidFill>
                        </a:defRPr>
                      </a:pPr>
                      <a:r>
                        <a:t>Security &amp; Auth</a:t>
                      </a:r>
                    </a:p>
                  </a:txBody>
                  <a:tcPr anchor="ctr">
                    <a:solidFill>
                      <a:srgbClr val="FFFFFF"/>
                    </a:solidFill>
                  </a:tcPr>
                </a:tc>
                <a:tc>
                  <a:txBody>
                    <a:bodyPr/>
                    <a:lstStyle/>
                    <a:p>
                      <a:pPr>
                        <a:defRPr sz="1000">
                          <a:solidFill>
                            <a:srgbClr val="334155"/>
                          </a:solidFill>
                        </a:defRPr>
                      </a:pPr>
                      <a:r>
                        <a:t>Memory-hard hashing (m=65536, t=3, p=4)</a:t>
                      </a:r>
                    </a:p>
                  </a:txBody>
                  <a:tcPr anchor="ctr">
                    <a:solidFill>
                      <a:srgbClr val="FFFFFF"/>
                    </a:solidFill>
                  </a:tcPr>
                </a:tc>
                <a:tc>
                  <a:txBody>
                    <a:bodyPr/>
                    <a:lstStyle/>
                    <a:p>
                      <a:pPr>
                        <a:defRPr sz="1000">
                          <a:solidFill>
                            <a:srgbClr val="334155"/>
                          </a:solidFill>
                        </a:defRPr>
                      </a:pPr>
                      <a:r>
                        <a:t>Protects admin accounts against GPU-accelerated dictionary and rainbow table attacks.</a:t>
                      </a:r>
                    </a:p>
                  </a:txBody>
                  <a:tcPr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B45309"/>
                </a:solidFill>
              </a:defRPr>
            </a:pPr>
            <a:r>
              <a:t>SYSTEM EVALUATION &amp; BENCHMARKS</a:t>
            </a:r>
          </a:p>
        </p:txBody>
      </p:sp>
      <p:sp>
        <p:nvSpPr>
          <p:cNvPr id="3" name="TextBox 2"/>
          <p:cNvSpPr txBox="1"/>
          <p:nvPr/>
        </p:nvSpPr>
        <p:spPr>
          <a:xfrm>
            <a:off x="731520" y="685800"/>
            <a:ext cx="10698480" cy="594360"/>
          </a:xfrm>
          <a:prstGeom prst="rect">
            <a:avLst/>
          </a:prstGeom>
          <a:noFill/>
        </p:spPr>
        <p:txBody>
          <a:bodyPr wrap="square" lIns="0" rIns="0" tIns="0" bIns="0">
            <a:spAutoFit/>
          </a:bodyPr>
          <a:lstStyle/>
          <a:p>
            <a:pPr>
              <a:defRPr sz="2200" b="1">
                <a:solidFill>
                  <a:srgbClr val="1E3A8A"/>
                </a:solidFill>
              </a:defRPr>
            </a:pPr>
            <a:r>
              <a:t>Experimental Results &amp; Verification Metrics</a:t>
            </a:r>
          </a:p>
        </p:txBody>
      </p:sp>
      <p:sp>
        <p:nvSpPr>
          <p:cNvPr id="4" name="Rectangle 3"/>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2542032" cy="12801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2200" b="1">
                <a:solidFill>
                  <a:srgbClr val="166534"/>
                </a:solidFill>
              </a:defRPr>
            </a:pPr>
            <a:r>
              <a:t>100.0%</a:t>
            </a:r>
          </a:p>
          <a:p>
            <a:pPr algn="ctr">
              <a:defRPr sz="1100" b="1">
                <a:solidFill>
                  <a:srgbClr val="1E3A8A"/>
                </a:solidFill>
              </a:defRPr>
            </a:pPr>
            <a:r>
              <a:t>Hit@1 Retrieval Rate</a:t>
            </a:r>
          </a:p>
          <a:p>
            <a:pPr algn="ctr">
              <a:defRPr sz="950">
                <a:solidFill>
                  <a:srgbClr val="64748B"/>
                </a:solidFill>
              </a:defRPr>
            </a:pPr>
            <a:r>
              <a:t>Relevant passage ranked #1 across all tests</a:t>
            </a:r>
          </a:p>
        </p:txBody>
      </p:sp>
      <p:sp>
        <p:nvSpPr>
          <p:cNvPr id="6" name="Rounded Rectangle 5"/>
          <p:cNvSpPr/>
          <p:nvPr/>
        </p:nvSpPr>
        <p:spPr>
          <a:xfrm>
            <a:off x="3456432" y="1508760"/>
            <a:ext cx="2542032" cy="12801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2200" b="1">
                <a:solidFill>
                  <a:srgbClr val="166534"/>
                </a:solidFill>
              </a:defRPr>
            </a:pPr>
            <a:r>
              <a:t>1.0000</a:t>
            </a:r>
          </a:p>
          <a:p>
            <a:pPr algn="ctr">
              <a:defRPr sz="1100" b="1">
                <a:solidFill>
                  <a:srgbClr val="1E3A8A"/>
                </a:solidFill>
              </a:defRPr>
            </a:pPr>
            <a:r>
              <a:t>Mean Reciprocal Rank</a:t>
            </a:r>
          </a:p>
          <a:p>
            <a:pPr algn="ctr">
              <a:defRPr sz="950">
                <a:solidFill>
                  <a:srgbClr val="64748B"/>
                </a:solidFill>
              </a:defRPr>
            </a:pPr>
            <a:r>
              <a:t>Optimal ranking efficiency in Hybrid RAG</a:t>
            </a:r>
          </a:p>
        </p:txBody>
      </p:sp>
      <p:sp>
        <p:nvSpPr>
          <p:cNvPr id="7" name="Rounded Rectangle 6"/>
          <p:cNvSpPr/>
          <p:nvPr/>
        </p:nvSpPr>
        <p:spPr>
          <a:xfrm>
            <a:off x="6181344" y="1508760"/>
            <a:ext cx="2542032" cy="12801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2200" b="1">
                <a:solidFill>
                  <a:srgbClr val="166534"/>
                </a:solidFill>
              </a:defRPr>
            </a:pPr>
            <a:r>
              <a:t>100%</a:t>
            </a:r>
          </a:p>
          <a:p>
            <a:pPr algn="ctr">
              <a:defRPr sz="1100" b="1">
                <a:solidFill>
                  <a:srgbClr val="1E3A8A"/>
                </a:solidFill>
              </a:defRPr>
            </a:pPr>
            <a:r>
              <a:t>Grounding Accuracy</a:t>
            </a:r>
          </a:p>
          <a:p>
            <a:pPr algn="ctr">
              <a:defRPr sz="950">
                <a:solidFill>
                  <a:srgbClr val="64748B"/>
                </a:solidFill>
              </a:defRPr>
            </a:pPr>
            <a:r>
              <a:t>Zero hallucinations across 30-turn evaluation</a:t>
            </a:r>
          </a:p>
        </p:txBody>
      </p:sp>
      <p:sp>
        <p:nvSpPr>
          <p:cNvPr id="8" name="Rounded Rectangle 7"/>
          <p:cNvSpPr/>
          <p:nvPr/>
        </p:nvSpPr>
        <p:spPr>
          <a:xfrm>
            <a:off x="8906256" y="1508760"/>
            <a:ext cx="2542032" cy="12801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2200" b="1">
                <a:solidFill>
                  <a:srgbClr val="166534"/>
                </a:solidFill>
              </a:defRPr>
            </a:pPr>
            <a:r>
              <a:t>330 / 330</a:t>
            </a:r>
          </a:p>
          <a:p>
            <a:pPr algn="ctr">
              <a:defRPr sz="1100" b="1">
                <a:solidFill>
                  <a:srgbClr val="1E3A8A"/>
                </a:solidFill>
              </a:defRPr>
            </a:pPr>
            <a:r>
              <a:t>Test Suite Pass Rate</a:t>
            </a:r>
          </a:p>
          <a:p>
            <a:pPr algn="ctr">
              <a:defRPr sz="950">
                <a:solidFill>
                  <a:srgbClr val="64748B"/>
                </a:solidFill>
              </a:defRPr>
            </a:pPr>
            <a:r>
              <a:t>100% backend (283) &amp; frontend (47) tests</a:t>
            </a:r>
          </a:p>
        </p:txBody>
      </p:sp>
      <p:sp>
        <p:nvSpPr>
          <p:cNvPr id="9" name="Rounded Rectangle 8"/>
          <p:cNvSpPr/>
          <p:nvPr/>
        </p:nvSpPr>
        <p:spPr>
          <a:xfrm>
            <a:off x="731520" y="3017520"/>
            <a:ext cx="5257800" cy="3246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28600"/>
          <a:lstStyle/>
          <a:p>
            <a:pPr algn="ctr">
              <a:defRPr sz="1400" b="1">
                <a:solidFill>
                  <a:srgbClr val="1E3A8A"/>
                </a:solidFill>
              </a:defRPr>
            </a:pPr>
            <a:r>
              <a:t>Retrieval &amp; Grounding Accuracy</a:t>
            </a:r>
          </a:p>
          <a:p>
            <a:pPr>
              <a:spcBef>
                <a:spcPts val="800"/>
              </a:spcBef>
              <a:defRPr sz="1150">
                <a:solidFill>
                  <a:srgbClr val="334155"/>
                </a:solidFill>
              </a:defRPr>
            </a:pPr>
            <a:r>
              <a:t>• Hit@1 = 100.0%, Recall@5 = 100.0%, MRR = 1.0000 across verified temple knowledge corpus.</a:t>
            </a:r>
          </a:p>
          <a:p>
            <a:pPr>
              <a:spcBef>
                <a:spcPts val="800"/>
              </a:spcBef>
              <a:defRPr sz="1150">
                <a:solidFill>
                  <a:srgbClr val="334155"/>
                </a:solidFill>
              </a:defRPr>
            </a:pPr>
            <a:r>
              <a:t>• Grounding Guard achieved 100% precision: 0 hallucinations and 0 bibliography leakage.</a:t>
            </a:r>
          </a:p>
          <a:p>
            <a:pPr>
              <a:spcBef>
                <a:spcPts val="800"/>
              </a:spcBef>
              <a:defRPr sz="1150">
                <a:solidFill>
                  <a:srgbClr val="334155"/>
                </a:solidFill>
              </a:defRPr>
            </a:pPr>
            <a:r>
              <a:t>• 100% server-authoritative citation verification (44/44 citations verified against MySQL chunks).</a:t>
            </a:r>
          </a:p>
        </p:txBody>
      </p:sp>
      <p:sp>
        <p:nvSpPr>
          <p:cNvPr id="10" name="Rounded Rectangle 9"/>
          <p:cNvSpPr/>
          <p:nvPr/>
        </p:nvSpPr>
        <p:spPr>
          <a:xfrm>
            <a:off x="6172200" y="3017520"/>
            <a:ext cx="5257800" cy="3246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28600"/>
          <a:lstStyle/>
          <a:p>
            <a:pPr algn="ctr">
              <a:defRPr sz="1400" b="1">
                <a:solidFill>
                  <a:srgbClr val="1E3A8A"/>
                </a:solidFill>
              </a:defRPr>
            </a:pPr>
            <a:r>
              <a:t>Offline AI Execution &amp; Deployment</a:t>
            </a:r>
          </a:p>
          <a:p>
            <a:pPr>
              <a:spcBef>
                <a:spcPts val="800"/>
              </a:spcBef>
              <a:defRPr sz="1150">
                <a:solidFill>
                  <a:srgbClr val="334155"/>
                </a:solidFill>
              </a:defRPr>
            </a:pPr>
            <a:r>
              <a:t>• 100% verified offline standalone operation — all 7 models load with zero internet access.</a:t>
            </a:r>
          </a:p>
          <a:p>
            <a:pPr>
              <a:spcBef>
                <a:spcPts val="800"/>
              </a:spcBef>
              <a:defRPr sz="1150">
                <a:solidFill>
                  <a:srgbClr val="334155"/>
                </a:solidFill>
              </a:defRPr>
            </a:pPr>
            <a:r>
              <a:t>• 4-container Docker Compose stack (Backend, Nginx Frontend, MySQL 8.0, Ollama) verified healthy.</a:t>
            </a:r>
          </a:p>
          <a:p>
            <a:pPr>
              <a:spcBef>
                <a:spcPts val="800"/>
              </a:spcBef>
              <a:defRPr sz="1150">
                <a:solidFill>
                  <a:srgbClr val="334155"/>
                </a:solidFill>
              </a:defRPr>
            </a:pPr>
            <a:r>
              <a:t>• Voice pipeline operational (English &amp; Kannada); conversational latency optimization in progress.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B45309"/>
                </a:solidFill>
              </a:defRPr>
            </a:pPr>
            <a:r>
              <a:t>GRAPHICAL PORTRAYAL — SOFTWARE ARCHITECTURE</a:t>
            </a:r>
          </a:p>
        </p:txBody>
      </p:sp>
      <p:sp>
        <p:nvSpPr>
          <p:cNvPr id="3" name="TextBox 2"/>
          <p:cNvSpPr txBox="1"/>
          <p:nvPr/>
        </p:nvSpPr>
        <p:spPr>
          <a:xfrm>
            <a:off x="731520" y="685800"/>
            <a:ext cx="10698480" cy="594360"/>
          </a:xfrm>
          <a:prstGeom prst="rect">
            <a:avLst/>
          </a:prstGeom>
          <a:noFill/>
        </p:spPr>
        <p:txBody>
          <a:bodyPr wrap="square" lIns="0" rIns="0" tIns="0" bIns="0">
            <a:spAutoFit/>
          </a:bodyPr>
          <a:lstStyle/>
          <a:p>
            <a:pPr>
              <a:defRPr sz="2200" b="1">
                <a:solidFill>
                  <a:srgbClr val="1E3A8A"/>
                </a:solidFill>
              </a:defRPr>
            </a:pPr>
            <a:r>
              <a:t>System Architecture: 4-Layer Clean Architecture</a:t>
            </a:r>
          </a:p>
        </p:txBody>
      </p:sp>
      <p:sp>
        <p:nvSpPr>
          <p:cNvPr id="4" name="Rectangle 3"/>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named_architecture_1789928477908.jpg"/>
          <p:cNvPicPr>
            <a:picLocks noChangeAspect="1"/>
          </p:cNvPicPr>
          <p:nvPr/>
        </p:nvPicPr>
        <p:blipFill>
          <a:blip r:embed="rId2"/>
          <a:stretch>
            <a:fillRect/>
          </a:stretch>
        </p:blipFill>
        <p:spPr>
          <a:xfrm>
            <a:off x="731520" y="1508760"/>
            <a:ext cx="7132320" cy="3980830"/>
          </a:xfrm>
          <a:prstGeom prst="rect">
            <a:avLst/>
          </a:prstGeom>
        </p:spPr>
      </p:pic>
      <p:sp>
        <p:nvSpPr>
          <p:cNvPr id="6" name="Rounded Rectangle 5"/>
          <p:cNvSpPr/>
          <p:nvPr/>
        </p:nvSpPr>
        <p:spPr>
          <a:xfrm>
            <a:off x="8046720" y="1508760"/>
            <a:ext cx="3413455"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200" b="1">
                <a:solidFill>
                  <a:srgbClr val="B45309"/>
                </a:solidFill>
              </a:defRPr>
            </a:pPr>
            <a:r>
              <a:t>ARCHITECTURAL HIGHLIGHTS</a:t>
            </a:r>
          </a:p>
          <a:p>
            <a:pPr>
              <a:spcBef>
                <a:spcPts val="600"/>
              </a:spcBef>
              <a:defRPr sz="1050">
                <a:solidFill>
                  <a:srgbClr val="334155"/>
                </a:solidFill>
              </a:defRPr>
            </a:pPr>
            <a:r>
              <a:t>• Layer 1 (Presentation): React 19 Tourist SPA (Chat, Voice, Map, Citations) and Admin Dashboard.</a:t>
            </a:r>
          </a:p>
          <a:p>
            <a:pPr>
              <a:spcBef>
                <a:spcPts val="600"/>
              </a:spcBef>
              <a:defRPr sz="1050">
                <a:solidFill>
                  <a:srgbClr val="334155"/>
                </a:solidFill>
              </a:defRPr>
            </a:pPr>
            <a:r>
              <a:t>• Layer 2 (API Gateway): FastAPI at /api/v1 with rate limiting, CORS, JWT auth, and SSE token streaming.</a:t>
            </a:r>
          </a:p>
          <a:p>
            <a:pPr>
              <a:spcBef>
                <a:spcPts val="600"/>
              </a:spcBef>
              <a:defRPr sz="1050">
                <a:solidFill>
                  <a:srgbClr val="334155"/>
                </a:solidFill>
              </a:defRPr>
            </a:pPr>
            <a:r>
              <a:t>• Layer 3 (Application): Decoupled business logic (Conversation, RAG, Speech, Translation, Auth).</a:t>
            </a:r>
          </a:p>
          <a:p>
            <a:pPr>
              <a:spcBef>
                <a:spcPts val="600"/>
              </a:spcBef>
              <a:defRPr sz="1050">
                <a:solidFill>
                  <a:srgbClr val="334155"/>
                </a:solidFill>
              </a:defRPr>
            </a:pPr>
            <a:r>
              <a:t>• Layer 4 (Infrastructure): MySQL 8.0, ChromaDB, Ollama (phi3:mini), Faster-Whisper, Piper &amp; MMS-TTS.</a:t>
            </a:r>
          </a:p>
          <a:p>
            <a:pPr>
              <a:spcBef>
                <a:spcPts val="600"/>
              </a:spcBef>
              <a:defRPr sz="1050">
                <a:solidFill>
                  <a:srgbClr val="334155"/>
                </a:solidFill>
              </a:defRPr>
            </a:pPr>
            <a:r>
              <a:t>• 100% Offline AI: All AI models run locally with zero cloud API dependencies.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B45309"/>
                </a:solidFill>
              </a:defRPr>
            </a:pPr>
            <a:r>
              <a:t>GRAPHICAL PORTRAYAL — DATA FLOW DIAGRAM</a:t>
            </a:r>
          </a:p>
        </p:txBody>
      </p:sp>
      <p:sp>
        <p:nvSpPr>
          <p:cNvPr id="3" name="TextBox 2"/>
          <p:cNvSpPr txBox="1"/>
          <p:nvPr/>
        </p:nvSpPr>
        <p:spPr>
          <a:xfrm>
            <a:off x="731520" y="685800"/>
            <a:ext cx="10698480" cy="594360"/>
          </a:xfrm>
          <a:prstGeom prst="rect">
            <a:avLst/>
          </a:prstGeom>
          <a:noFill/>
        </p:spPr>
        <p:txBody>
          <a:bodyPr wrap="square" lIns="0" rIns="0" tIns="0" bIns="0">
            <a:spAutoFit/>
          </a:bodyPr>
          <a:lstStyle/>
          <a:p>
            <a:pPr>
              <a:defRPr sz="2200" b="1">
                <a:solidFill>
                  <a:srgbClr val="1E3A8A"/>
                </a:solidFill>
              </a:defRPr>
            </a:pPr>
            <a:r>
              <a:t>Data Flow Diagram (DFD Level 1): Processes &amp; Data Stores</a:t>
            </a:r>
          </a:p>
        </p:txBody>
      </p:sp>
      <p:sp>
        <p:nvSpPr>
          <p:cNvPr id="4" name="Rectangle 3"/>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named_dfd_1789928913178.jpg"/>
          <p:cNvPicPr>
            <a:picLocks noChangeAspect="1"/>
          </p:cNvPicPr>
          <p:nvPr/>
        </p:nvPicPr>
        <p:blipFill>
          <a:blip r:embed="rId2"/>
          <a:stretch>
            <a:fillRect/>
          </a:stretch>
        </p:blipFill>
        <p:spPr>
          <a:xfrm>
            <a:off x="731520" y="1508760"/>
            <a:ext cx="7132320" cy="3980830"/>
          </a:xfrm>
          <a:prstGeom prst="rect">
            <a:avLst/>
          </a:prstGeom>
        </p:spPr>
      </p:pic>
      <p:sp>
        <p:nvSpPr>
          <p:cNvPr id="6" name="Rounded Rectangle 5"/>
          <p:cNvSpPr/>
          <p:nvPr/>
        </p:nvSpPr>
        <p:spPr>
          <a:xfrm>
            <a:off x="8046720" y="1508760"/>
            <a:ext cx="3413455"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200" b="1">
                <a:solidFill>
                  <a:srgbClr val="B45309"/>
                </a:solidFill>
              </a:defRPr>
            </a:pPr>
            <a:r>
              <a:t>ARCHITECTURAL HIGHLIGHTS</a:t>
            </a:r>
          </a:p>
          <a:p>
            <a:pPr>
              <a:spcBef>
                <a:spcPts val="600"/>
              </a:spcBef>
              <a:defRPr sz="1050">
                <a:solidFill>
                  <a:srgbClr val="334155"/>
                </a:solidFill>
              </a:defRPr>
            </a:pPr>
            <a:r>
              <a:t>• External Entities: Tourist (zero login required) and Admin (authenticated via JWT).</a:t>
            </a:r>
          </a:p>
          <a:p>
            <a:pPr>
              <a:spcBef>
                <a:spcPts val="600"/>
              </a:spcBef>
              <a:defRPr sz="1050">
                <a:solidFill>
                  <a:srgbClr val="334155"/>
                </a:solidFill>
              </a:defRPr>
            </a:pPr>
            <a:r>
              <a:t>• 7 Core Processes: Language Detection, Hybrid RAG Retrieval, Grounding Guard &amp; LLM, Translation, Voice STT/TTS, Document Ingestion, and RBAC.</a:t>
            </a:r>
          </a:p>
          <a:p>
            <a:pPr>
              <a:spcBef>
                <a:spcPts val="600"/>
              </a:spcBef>
              <a:defRPr sz="1050">
                <a:solidFill>
                  <a:srgbClr val="334155"/>
                </a:solidFill>
              </a:defRPr>
            </a:pPr>
            <a:r>
              <a:t>• 3 Permanent Stores: MySQL 8.0 (chunks, sessions, messages), ChromaDB (vectors), and PDF Storage.</a:t>
            </a:r>
          </a:p>
          <a:p>
            <a:pPr>
              <a:spcBef>
                <a:spcPts val="600"/>
              </a:spcBef>
              <a:defRPr sz="1050">
                <a:solidFill>
                  <a:srgbClr val="334155"/>
                </a:solidFill>
              </a:defRPr>
            </a:pPr>
            <a:r>
              <a:t>• Verifiable Feedback Loop: Grounding Guard checks evidence before invoking LLM.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B45309"/>
                </a:solidFill>
              </a:defRPr>
            </a:pPr>
            <a:r>
              <a:t>GRAPHICAL PORTRAYAL — USE CASE MODEL</a:t>
            </a:r>
          </a:p>
        </p:txBody>
      </p:sp>
      <p:sp>
        <p:nvSpPr>
          <p:cNvPr id="3" name="TextBox 2"/>
          <p:cNvSpPr txBox="1"/>
          <p:nvPr/>
        </p:nvSpPr>
        <p:spPr>
          <a:xfrm>
            <a:off x="731520" y="685800"/>
            <a:ext cx="10698480" cy="594360"/>
          </a:xfrm>
          <a:prstGeom prst="rect">
            <a:avLst/>
          </a:prstGeom>
          <a:noFill/>
        </p:spPr>
        <p:txBody>
          <a:bodyPr wrap="square" lIns="0" rIns="0" tIns="0" bIns="0">
            <a:spAutoFit/>
          </a:bodyPr>
          <a:lstStyle/>
          <a:p>
            <a:pPr>
              <a:defRPr sz="2200" b="1">
                <a:solidFill>
                  <a:srgbClr val="1E3A8A"/>
                </a:solidFill>
              </a:defRPr>
            </a:pPr>
            <a:r>
              <a:t>UML Use Case Diagram: Tourist &amp; Admin Functional Capabilities</a:t>
            </a:r>
          </a:p>
        </p:txBody>
      </p:sp>
      <p:sp>
        <p:nvSpPr>
          <p:cNvPr id="4" name="Rectangle 3"/>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named_usecase_1789928924982.jpg"/>
          <p:cNvPicPr>
            <a:picLocks noChangeAspect="1"/>
          </p:cNvPicPr>
          <p:nvPr/>
        </p:nvPicPr>
        <p:blipFill>
          <a:blip r:embed="rId2"/>
          <a:stretch>
            <a:fillRect/>
          </a:stretch>
        </p:blipFill>
        <p:spPr>
          <a:xfrm>
            <a:off x="731520" y="1508760"/>
            <a:ext cx="7132320" cy="3980830"/>
          </a:xfrm>
          <a:prstGeom prst="rect">
            <a:avLst/>
          </a:prstGeom>
        </p:spPr>
      </p:pic>
      <p:sp>
        <p:nvSpPr>
          <p:cNvPr id="6" name="Rounded Rectangle 5"/>
          <p:cNvSpPr/>
          <p:nvPr/>
        </p:nvSpPr>
        <p:spPr>
          <a:xfrm>
            <a:off x="8046720" y="1508760"/>
            <a:ext cx="3413455"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200" b="1">
                <a:solidFill>
                  <a:srgbClr val="B45309"/>
                </a:solidFill>
              </a:defRPr>
            </a:pPr>
            <a:r>
              <a:t>ARCHITECTURAL HIGHLIGHTS</a:t>
            </a:r>
          </a:p>
          <a:p>
            <a:pPr>
              <a:spcBef>
                <a:spcPts val="600"/>
              </a:spcBef>
              <a:defRPr sz="1050">
                <a:solidFill>
                  <a:srgbClr val="334155"/>
                </a:solidFill>
              </a:defRPr>
            </a:pPr>
            <a:r>
              <a:t>• Tourist Actor: Ask questions via text/voice, view citation sources, listen to audio answers, explore temple attractions, and view interactive map.</a:t>
            </a:r>
          </a:p>
          <a:p>
            <a:pPr>
              <a:spcBef>
                <a:spcPts val="600"/>
              </a:spcBef>
              <a:defRPr sz="1050">
                <a:solidFill>
                  <a:srgbClr val="334155"/>
                </a:solidFill>
              </a:defRPr>
            </a:pPr>
            <a:r>
              <a:t>• Admin Actor: Secure login, upload verified temple PDFs, trigger knowledge pipelines, test retrieval diagnostics, and monitor system health.</a:t>
            </a:r>
          </a:p>
          <a:p>
            <a:pPr>
              <a:spcBef>
                <a:spcPts val="600"/>
              </a:spcBef>
              <a:defRPr sz="1050">
                <a:solidFill>
                  <a:srgbClr val="334155"/>
                </a:solidFill>
              </a:defRPr>
            </a:pPr>
            <a:r>
              <a:t>• Include Relationships: Text/Voice questions automatically include RAG Retrieval and STT transcription.</a:t>
            </a:r>
          </a:p>
          <a:p>
            <a:pPr>
              <a:spcBef>
                <a:spcPts val="600"/>
              </a:spcBef>
              <a:defRPr sz="1050">
                <a:solidFill>
                  <a:srgbClr val="334155"/>
                </a:solidFill>
              </a:defRPr>
            </a:pPr>
            <a:r>
              <a:t>• Extend Relationships: TTS synthesis executed conditionally on user request.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B45309"/>
                </a:solidFill>
              </a:defRPr>
            </a:pPr>
            <a:r>
              <a:t>GRAPHICAL PORTRAYAL — DATABASE DESIGN</a:t>
            </a:r>
          </a:p>
        </p:txBody>
      </p:sp>
      <p:sp>
        <p:nvSpPr>
          <p:cNvPr id="3" name="TextBox 2"/>
          <p:cNvSpPr txBox="1"/>
          <p:nvPr/>
        </p:nvSpPr>
        <p:spPr>
          <a:xfrm>
            <a:off x="731520" y="685800"/>
            <a:ext cx="10698480" cy="594360"/>
          </a:xfrm>
          <a:prstGeom prst="rect">
            <a:avLst/>
          </a:prstGeom>
          <a:noFill/>
        </p:spPr>
        <p:txBody>
          <a:bodyPr wrap="square" lIns="0" rIns="0" tIns="0" bIns="0">
            <a:spAutoFit/>
          </a:bodyPr>
          <a:lstStyle/>
          <a:p>
            <a:pPr>
              <a:defRPr sz="2200" b="1">
                <a:solidFill>
                  <a:srgbClr val="1E3A8A"/>
                </a:solidFill>
              </a:defRPr>
            </a:pPr>
            <a:r>
              <a:t>Entity-Relationship (ER) Diagram: MySQL 8.0 Schema</a:t>
            </a:r>
          </a:p>
        </p:txBody>
      </p:sp>
      <p:sp>
        <p:nvSpPr>
          <p:cNvPr id="4" name="Rectangle 3"/>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named_er_1789928971560.jpg"/>
          <p:cNvPicPr>
            <a:picLocks noChangeAspect="1"/>
          </p:cNvPicPr>
          <p:nvPr/>
        </p:nvPicPr>
        <p:blipFill>
          <a:blip r:embed="rId2"/>
          <a:stretch>
            <a:fillRect/>
          </a:stretch>
        </p:blipFill>
        <p:spPr>
          <a:xfrm>
            <a:off x="731520" y="1508760"/>
            <a:ext cx="7132320" cy="3980830"/>
          </a:xfrm>
          <a:prstGeom prst="rect">
            <a:avLst/>
          </a:prstGeom>
        </p:spPr>
      </p:pic>
      <p:sp>
        <p:nvSpPr>
          <p:cNvPr id="6" name="Rounded Rectangle 5"/>
          <p:cNvSpPr/>
          <p:nvPr/>
        </p:nvSpPr>
        <p:spPr>
          <a:xfrm>
            <a:off x="8046720" y="1508760"/>
            <a:ext cx="3413455"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200" b="1">
                <a:solidFill>
                  <a:srgbClr val="B45309"/>
                </a:solidFill>
              </a:defRPr>
            </a:pPr>
            <a:r>
              <a:t>ARCHITECTURAL HIGHLIGHTS</a:t>
            </a:r>
          </a:p>
          <a:p>
            <a:pPr>
              <a:spcBef>
                <a:spcPts val="600"/>
              </a:spcBef>
              <a:defRPr sz="1050">
                <a:solidFill>
                  <a:srgbClr val="334155"/>
                </a:solidFill>
              </a:defRPr>
            </a:pPr>
            <a:r>
              <a:t>• admins: Stores admin credentials with Argon2id hashing and 4-tier RBAC roles.</a:t>
            </a:r>
          </a:p>
          <a:p>
            <a:pPr>
              <a:spcBef>
                <a:spcPts val="600"/>
              </a:spcBef>
              <a:defRPr sz="1050">
                <a:solidFill>
                  <a:srgbClr val="334155"/>
                </a:solidFill>
              </a:defRPr>
            </a:pPr>
            <a:r>
              <a:t>• documents &amp; document_chunks: Stores verified PDFs and ~800-char semantic chunks.</a:t>
            </a:r>
          </a:p>
          <a:p>
            <a:pPr>
              <a:spcBef>
                <a:spcPts val="600"/>
              </a:spcBef>
              <a:defRPr sz="1050">
                <a:solidFill>
                  <a:srgbClr val="334155"/>
                </a:solidFill>
              </a:defRPr>
            </a:pPr>
            <a:r>
              <a:t>• knowledge_generations: Manages immutable generation versions with active flags.</a:t>
            </a:r>
          </a:p>
          <a:p>
            <a:pPr>
              <a:spcBef>
                <a:spcPts val="600"/>
              </a:spcBef>
              <a:defRPr sz="1050">
                <a:solidFill>
                  <a:srgbClr val="334155"/>
                </a:solidFill>
              </a:defRPr>
            </a:pPr>
            <a:r>
              <a:t>• embeddings: 1:1 mapping between chunks and ChromaDB 384-dimensional vector IDs.</a:t>
            </a:r>
          </a:p>
          <a:p>
            <a:pPr>
              <a:spcBef>
                <a:spcPts val="600"/>
              </a:spcBef>
              <a:defRPr sz="1050">
                <a:solidFill>
                  <a:srgbClr val="334155"/>
                </a:solidFill>
              </a:defRPr>
            </a:pPr>
            <a:r>
              <a:t>• chat_sessions &amp; chat_messages: Manages multi-turn conversations and citation JSON.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B45309"/>
                </a:solidFill>
              </a:defRPr>
            </a:pPr>
            <a:r>
              <a:t>GRAPHICAL PORTRAYAL — RAG PIPELINE</a:t>
            </a:r>
          </a:p>
        </p:txBody>
      </p:sp>
      <p:sp>
        <p:nvSpPr>
          <p:cNvPr id="3" name="TextBox 2"/>
          <p:cNvSpPr txBox="1"/>
          <p:nvPr/>
        </p:nvSpPr>
        <p:spPr>
          <a:xfrm>
            <a:off x="731520" y="685800"/>
            <a:ext cx="10698480" cy="594360"/>
          </a:xfrm>
          <a:prstGeom prst="rect">
            <a:avLst/>
          </a:prstGeom>
          <a:noFill/>
        </p:spPr>
        <p:txBody>
          <a:bodyPr wrap="square" lIns="0" rIns="0" tIns="0" bIns="0">
            <a:spAutoFit/>
          </a:bodyPr>
          <a:lstStyle/>
          <a:p>
            <a:pPr>
              <a:defRPr sz="2200" b="1">
                <a:solidFill>
                  <a:srgbClr val="1E3A8A"/>
                </a:solidFill>
              </a:defRPr>
            </a:pPr>
            <a:r>
              <a:t>Hybrid RAG Retrieval Flowchart: Query to Grounded Response</a:t>
            </a:r>
          </a:p>
        </p:txBody>
      </p:sp>
      <p:sp>
        <p:nvSpPr>
          <p:cNvPr id="4" name="Rectangle 3"/>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named_rag_pipeline_1789928491048.jpg"/>
          <p:cNvPicPr>
            <a:picLocks noChangeAspect="1"/>
          </p:cNvPicPr>
          <p:nvPr/>
        </p:nvPicPr>
        <p:blipFill>
          <a:blip r:embed="rId2"/>
          <a:stretch>
            <a:fillRect/>
          </a:stretch>
        </p:blipFill>
        <p:spPr>
          <a:xfrm>
            <a:off x="731520" y="1508760"/>
            <a:ext cx="7132320" cy="3980830"/>
          </a:xfrm>
          <a:prstGeom prst="rect">
            <a:avLst/>
          </a:prstGeom>
        </p:spPr>
      </p:pic>
      <p:sp>
        <p:nvSpPr>
          <p:cNvPr id="6" name="Rounded Rectangle 5"/>
          <p:cNvSpPr/>
          <p:nvPr/>
        </p:nvSpPr>
        <p:spPr>
          <a:xfrm>
            <a:off x="8046720" y="1508760"/>
            <a:ext cx="3413455"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200" b="1">
                <a:solidFill>
                  <a:srgbClr val="B45309"/>
                </a:solidFill>
              </a:defRPr>
            </a:pPr>
            <a:r>
              <a:t>ARCHITECTURAL HIGHLIGHTS</a:t>
            </a:r>
          </a:p>
          <a:p>
            <a:pPr>
              <a:spcBef>
                <a:spcPts val="600"/>
              </a:spcBef>
              <a:defRPr sz="1050">
                <a:solidFill>
                  <a:srgbClr val="334155"/>
                </a:solidFill>
              </a:defRPr>
            </a:pPr>
            <a:r>
              <a:t>• Language Branching: Kannada queries automatically translated to English via NLLB-200.</a:t>
            </a:r>
          </a:p>
          <a:p>
            <a:pPr>
              <a:spcBef>
                <a:spcPts val="600"/>
              </a:spcBef>
              <a:defRPr sz="1050">
                <a:solidFill>
                  <a:srgbClr val="334155"/>
                </a:solidFill>
              </a:defRPr>
            </a:pPr>
            <a:r>
              <a:t>• Dual Parallel Retrieval: Dense ChromaDB search + Okapi BM25 keyword matching.</a:t>
            </a:r>
          </a:p>
          <a:p>
            <a:pPr>
              <a:spcBef>
                <a:spcPts val="600"/>
              </a:spcBef>
              <a:defRPr sz="1050">
                <a:solidFill>
                  <a:srgbClr val="334155"/>
                </a:solidFill>
              </a:defRPr>
            </a:pPr>
            <a:r>
              <a:t>• Reciprocal Rank Fusion: Merges candidates with k=60 to balance semantics and keywords.</a:t>
            </a:r>
          </a:p>
          <a:p>
            <a:pPr>
              <a:spcBef>
                <a:spcPts val="600"/>
              </a:spcBef>
              <a:defRPr sz="1050">
                <a:solidFill>
                  <a:srgbClr val="334155"/>
                </a:solidFill>
              </a:defRPr>
            </a:pPr>
            <a:r>
              <a:t>• Cross-Encoder Reranking: Neural model selects top-5 most relevant chunks.</a:t>
            </a:r>
          </a:p>
          <a:p>
            <a:pPr>
              <a:spcBef>
                <a:spcPts val="600"/>
              </a:spcBef>
              <a:defRPr sz="1050">
                <a:solidFill>
                  <a:srgbClr val="334155"/>
                </a:solidFill>
              </a:defRPr>
            </a:pPr>
            <a:r>
              <a:t>• Grounding Guard: If score &lt; -6.0, triggers safe bilingual fallback (zero hallucination).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B45309"/>
                </a:solidFill>
              </a:defRPr>
            </a:pPr>
            <a:r>
              <a:t>GRAPHICAL PORTRAYAL — DEPLOYMENT ARCHITECTURE</a:t>
            </a:r>
          </a:p>
        </p:txBody>
      </p:sp>
      <p:sp>
        <p:nvSpPr>
          <p:cNvPr id="3" name="TextBox 2"/>
          <p:cNvSpPr txBox="1"/>
          <p:nvPr/>
        </p:nvSpPr>
        <p:spPr>
          <a:xfrm>
            <a:off x="731520" y="685800"/>
            <a:ext cx="10698480" cy="594360"/>
          </a:xfrm>
          <a:prstGeom prst="rect">
            <a:avLst/>
          </a:prstGeom>
          <a:noFill/>
        </p:spPr>
        <p:txBody>
          <a:bodyPr wrap="square" lIns="0" rIns="0" tIns="0" bIns="0">
            <a:spAutoFit/>
          </a:bodyPr>
          <a:lstStyle/>
          <a:p>
            <a:pPr>
              <a:defRPr sz="2200" b="1">
                <a:solidFill>
                  <a:srgbClr val="1E3A8A"/>
                </a:solidFill>
              </a:defRPr>
            </a:pPr>
            <a:r>
              <a:t>Docker Multi-Container Deployment: 4 Containers &amp; 6 Volumes</a:t>
            </a:r>
          </a:p>
        </p:txBody>
      </p:sp>
      <p:sp>
        <p:nvSpPr>
          <p:cNvPr id="4" name="Rectangle 3"/>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named_deployment_1789928982009.jpg"/>
          <p:cNvPicPr>
            <a:picLocks noChangeAspect="1"/>
          </p:cNvPicPr>
          <p:nvPr/>
        </p:nvPicPr>
        <p:blipFill>
          <a:blip r:embed="rId2"/>
          <a:stretch>
            <a:fillRect/>
          </a:stretch>
        </p:blipFill>
        <p:spPr>
          <a:xfrm>
            <a:off x="731520" y="1508760"/>
            <a:ext cx="7132320" cy="3980830"/>
          </a:xfrm>
          <a:prstGeom prst="rect">
            <a:avLst/>
          </a:prstGeom>
        </p:spPr>
      </p:pic>
      <p:sp>
        <p:nvSpPr>
          <p:cNvPr id="6" name="Rounded Rectangle 5"/>
          <p:cNvSpPr/>
          <p:nvPr/>
        </p:nvSpPr>
        <p:spPr>
          <a:xfrm>
            <a:off x="8046720" y="1508760"/>
            <a:ext cx="3413455"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200" b="1">
                <a:solidFill>
                  <a:srgbClr val="B45309"/>
                </a:solidFill>
              </a:defRPr>
            </a:pPr>
            <a:r>
              <a:t>ARCHITECTURAL HIGHLIGHTS</a:t>
            </a:r>
          </a:p>
          <a:p>
            <a:pPr>
              <a:spcBef>
                <a:spcPts val="600"/>
              </a:spcBef>
              <a:defRPr sz="1050">
                <a:solidFill>
                  <a:srgbClr val="334155"/>
                </a:solidFill>
              </a:defRPr>
            </a:pPr>
            <a:r>
              <a:t>• 4 Isolated Containers: Frontend (Nginx SPA, port 80), Backend (FastAPI, port 8000), MySQL 8.0, and Ollama LLM.</a:t>
            </a:r>
          </a:p>
          <a:p>
            <a:pPr>
              <a:spcBef>
                <a:spcPts val="600"/>
              </a:spcBef>
              <a:defRPr sz="1050">
                <a:solidFill>
                  <a:srgbClr val="334155"/>
                </a:solidFill>
              </a:defRPr>
            </a:pPr>
            <a:r>
              <a:t>• Internal Bridge Network: karnataka-net ensures secure container-to-container communication.</a:t>
            </a:r>
          </a:p>
          <a:p>
            <a:pPr>
              <a:spcBef>
                <a:spcPts val="600"/>
              </a:spcBef>
              <a:defRPr sz="1050">
                <a:solidFill>
                  <a:srgbClr val="334155"/>
                </a:solidFill>
              </a:defRPr>
            </a:pPr>
            <a:r>
              <a:t>• 6 Persistent Volumes: mysql_data, ollama_data, chroma_data, pdf_storage, piper_models, and huggingface_cache.</a:t>
            </a:r>
          </a:p>
          <a:p>
            <a:pPr>
              <a:spcBef>
                <a:spcPts val="600"/>
              </a:spcBef>
              <a:defRPr sz="1050">
                <a:solidFill>
                  <a:srgbClr val="334155"/>
                </a:solidFill>
              </a:defRPr>
            </a:pPr>
            <a:r>
              <a:t>• Production Hardened: Multi-stage Dockerfiles with health checks and restart policies.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B45309"/>
                </a:solidFill>
              </a:defRPr>
            </a:pPr>
            <a:r>
              <a:t>GRAPHICAL PORTRAYAL — KNOWLEDGE PIPELINE</a:t>
            </a:r>
          </a:p>
        </p:txBody>
      </p:sp>
      <p:sp>
        <p:nvSpPr>
          <p:cNvPr id="3" name="TextBox 2"/>
          <p:cNvSpPr txBox="1"/>
          <p:nvPr/>
        </p:nvSpPr>
        <p:spPr>
          <a:xfrm>
            <a:off x="731520" y="685800"/>
            <a:ext cx="10698480" cy="594360"/>
          </a:xfrm>
          <a:prstGeom prst="rect">
            <a:avLst/>
          </a:prstGeom>
          <a:noFill/>
        </p:spPr>
        <p:txBody>
          <a:bodyPr wrap="square" lIns="0" rIns="0" tIns="0" bIns="0">
            <a:spAutoFit/>
          </a:bodyPr>
          <a:lstStyle/>
          <a:p>
            <a:pPr>
              <a:defRPr sz="2200" b="1">
                <a:solidFill>
                  <a:srgbClr val="1E3A8A"/>
                </a:solidFill>
              </a:defRPr>
            </a:pPr>
            <a:r>
              <a:t>Knowledge Generation Lifecycle &amp; Document Processing Pipeline</a:t>
            </a:r>
          </a:p>
        </p:txBody>
      </p:sp>
      <p:sp>
        <p:nvSpPr>
          <p:cNvPr id="4" name="Rectangle 3"/>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named_knowledge_lifecycle_1789931843961.jpg"/>
          <p:cNvPicPr>
            <a:picLocks noChangeAspect="1"/>
          </p:cNvPicPr>
          <p:nvPr/>
        </p:nvPicPr>
        <p:blipFill>
          <a:blip r:embed="rId2"/>
          <a:stretch>
            <a:fillRect/>
          </a:stretch>
        </p:blipFill>
        <p:spPr>
          <a:xfrm>
            <a:off x="731520" y="1508760"/>
            <a:ext cx="7132320" cy="3980830"/>
          </a:xfrm>
          <a:prstGeom prst="rect">
            <a:avLst/>
          </a:prstGeom>
        </p:spPr>
      </p:pic>
      <p:sp>
        <p:nvSpPr>
          <p:cNvPr id="6" name="Rounded Rectangle 5"/>
          <p:cNvSpPr/>
          <p:nvPr/>
        </p:nvSpPr>
        <p:spPr>
          <a:xfrm>
            <a:off x="8046720" y="1508760"/>
            <a:ext cx="3413455"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200" b="1">
                <a:solidFill>
                  <a:srgbClr val="B45309"/>
                </a:solidFill>
              </a:defRPr>
            </a:pPr>
            <a:r>
              <a:t>ARCHITECTURAL HIGHLIGHTS</a:t>
            </a:r>
          </a:p>
          <a:p>
            <a:pPr>
              <a:spcBef>
                <a:spcPts val="600"/>
              </a:spcBef>
              <a:defRPr sz="1050">
                <a:solidFill>
                  <a:srgbClr val="334155"/>
                </a:solidFill>
              </a:defRPr>
            </a:pPr>
            <a:r>
              <a:t>• PDF Ingestion Flow: Upload -&gt; SHA-256 Check -&gt; PyMuPDF Text Extraction -&gt; Unicode NFC Normalization -&gt; Semantic Chunking -&gt; Vector Embedding -&gt; ChromaDB Indexing -&gt; Validation.</a:t>
            </a:r>
          </a:p>
          <a:p>
            <a:pPr>
              <a:spcBef>
                <a:spcPts val="600"/>
              </a:spcBef>
              <a:defRPr sz="1050">
                <a:solidFill>
                  <a:srgbClr val="334155"/>
                </a:solidFill>
              </a:defRPr>
            </a:pPr>
            <a:r>
              <a:t>• 8-Stage State Machine: BUILD -&gt; PARSE -&gt; CHUNK -&gt; EMBED -&gt; INDEX -&gt; VALIDATED -&gt; PROMOTE -&gt; ACTIVE.</a:t>
            </a:r>
          </a:p>
          <a:p>
            <a:pPr>
              <a:spcBef>
                <a:spcPts val="600"/>
              </a:spcBef>
              <a:defRPr sz="1050">
                <a:solidFill>
                  <a:srgbClr val="334155"/>
                </a:solidFill>
              </a:defRPr>
            </a:pPr>
            <a:r>
              <a:t>• Instant Rollback: Immediate pointer-swap restores previous knowledge generation without re-embedding.</a:t>
            </a:r>
          </a:p>
          <a:p>
            <a:pPr>
              <a:spcBef>
                <a:spcPts val="600"/>
              </a:spcBef>
              <a:defRPr sz="1050">
                <a:solidFill>
                  <a:srgbClr val="334155"/>
                </a:solidFill>
              </a:defRPr>
            </a:pPr>
            <a:r>
              <a:t>• Immutability: Active knowledge is never modified in-place, ensuring reliable tourist queries.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B45309"/>
                </a:solidFill>
              </a:defRPr>
            </a:pPr>
            <a:r>
              <a:t>GRAPHICAL PORTRAYAL — DIRECTORY STRUCTURE</a:t>
            </a:r>
          </a:p>
        </p:txBody>
      </p:sp>
      <p:sp>
        <p:nvSpPr>
          <p:cNvPr id="3" name="TextBox 2"/>
          <p:cNvSpPr txBox="1"/>
          <p:nvPr/>
        </p:nvSpPr>
        <p:spPr>
          <a:xfrm>
            <a:off x="731520" y="685800"/>
            <a:ext cx="10698480" cy="594360"/>
          </a:xfrm>
          <a:prstGeom prst="rect">
            <a:avLst/>
          </a:prstGeom>
          <a:noFill/>
        </p:spPr>
        <p:txBody>
          <a:bodyPr wrap="square" lIns="0" rIns="0" tIns="0" bIns="0">
            <a:spAutoFit/>
          </a:bodyPr>
          <a:lstStyle/>
          <a:p>
            <a:pPr>
              <a:defRPr sz="2200" b="1">
                <a:solidFill>
                  <a:srgbClr val="1E3A8A"/>
                </a:solidFill>
              </a:defRPr>
            </a:pPr>
            <a:r>
              <a:t>Project File Structure &amp; Clean Architecture Directory Tree</a:t>
            </a:r>
          </a:p>
        </p:txBody>
      </p:sp>
      <p:sp>
        <p:nvSpPr>
          <p:cNvPr id="4" name="Rectangle 3"/>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named_file_structure_1789931860782.jpg"/>
          <p:cNvPicPr>
            <a:picLocks noChangeAspect="1"/>
          </p:cNvPicPr>
          <p:nvPr/>
        </p:nvPicPr>
        <p:blipFill>
          <a:blip r:embed="rId2"/>
          <a:stretch>
            <a:fillRect/>
          </a:stretch>
        </p:blipFill>
        <p:spPr>
          <a:xfrm>
            <a:off x="731520" y="1508760"/>
            <a:ext cx="3840480" cy="5143500"/>
          </a:xfrm>
          <a:prstGeom prst="rect">
            <a:avLst/>
          </a:prstGeom>
        </p:spPr>
      </p:pic>
      <p:sp>
        <p:nvSpPr>
          <p:cNvPr id="6" name="Rounded Rectangle 5"/>
          <p:cNvSpPr/>
          <p:nvPr/>
        </p:nvSpPr>
        <p:spPr>
          <a:xfrm>
            <a:off x="4754880" y="1508760"/>
            <a:ext cx="6705295"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200" b="1">
                <a:solidFill>
                  <a:srgbClr val="B45309"/>
                </a:solidFill>
              </a:defRPr>
            </a:pPr>
            <a:r>
              <a:t>ARCHITECTURAL HIGHLIGHTS</a:t>
            </a:r>
          </a:p>
          <a:p>
            <a:pPr>
              <a:spcBef>
                <a:spcPts val="600"/>
              </a:spcBef>
              <a:defRPr sz="1050">
                <a:solidFill>
                  <a:srgbClr val="334155"/>
                </a:solidFill>
              </a:defRPr>
            </a:pPr>
            <a:r>
              <a:t>• Clean Architecture Separation: backend/ partitioned into api/, application/, domain/ports/, and infrastructure/.</a:t>
            </a:r>
          </a:p>
          <a:p>
            <a:pPr>
              <a:spcBef>
                <a:spcPts val="600"/>
              </a:spcBef>
              <a:defRPr sz="1050">
                <a:solidFill>
                  <a:srgbClr val="334155"/>
                </a:solidFill>
              </a:defRPr>
            </a:pPr>
            <a:r>
              <a:t>• Domain Ports: Abstract Python ABCs (llm, stt, tts, translation) decouple core logic from third-party libraries.</a:t>
            </a:r>
          </a:p>
          <a:p>
            <a:pPr>
              <a:spcBef>
                <a:spcPts val="600"/>
              </a:spcBef>
              <a:defRPr sz="1050">
                <a:solidFill>
                  <a:srgbClr val="334155"/>
                </a:solidFill>
              </a:defRPr>
            </a:pPr>
            <a:r>
              <a:t>• Concrete Adapters: Infrastructure layer provides Ollama, Whisper, NLLB-200, and Piper implementations.</a:t>
            </a:r>
          </a:p>
          <a:p>
            <a:pPr>
              <a:spcBef>
                <a:spcPts val="600"/>
              </a:spcBef>
              <a:defRPr sz="1050">
                <a:solidFill>
                  <a:srgbClr val="334155"/>
                </a:solidFill>
              </a:defRPr>
            </a:pPr>
            <a:r>
              <a:t>• Frontend Modularization: Reusable React 19 components for chat, voice, citations, map, and admin pages.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B45309"/>
                </a:solidFill>
              </a:defRPr>
            </a:pPr>
            <a:r>
              <a:t>SUMMARY &amp; LOOKING AHEAD</a:t>
            </a:r>
          </a:p>
        </p:txBody>
      </p:sp>
      <p:sp>
        <p:nvSpPr>
          <p:cNvPr id="3" name="TextBox 2"/>
          <p:cNvSpPr txBox="1"/>
          <p:nvPr/>
        </p:nvSpPr>
        <p:spPr>
          <a:xfrm>
            <a:off x="731520" y="685800"/>
            <a:ext cx="10698480" cy="594360"/>
          </a:xfrm>
          <a:prstGeom prst="rect">
            <a:avLst/>
          </a:prstGeom>
          <a:noFill/>
        </p:spPr>
        <p:txBody>
          <a:bodyPr wrap="square" lIns="0" rIns="0" tIns="0" bIns="0">
            <a:spAutoFit/>
          </a:bodyPr>
          <a:lstStyle/>
          <a:p>
            <a:pPr>
              <a:defRPr sz="2200" b="1">
                <a:solidFill>
                  <a:srgbClr val="1E3A8A"/>
                </a:solidFill>
              </a:defRPr>
            </a:pPr>
            <a:r>
              <a:t>Conclusion &amp; Future Scope</a:t>
            </a:r>
          </a:p>
        </p:txBody>
      </p:sp>
      <p:sp>
        <p:nvSpPr>
          <p:cNvPr id="4" name="Rectangle 3"/>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5257800"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28600"/>
          <a:lstStyle/>
          <a:p>
            <a:pPr algn="ctr">
              <a:defRPr sz="1400" b="1">
                <a:solidFill>
                  <a:srgbClr val="1E3A8A"/>
                </a:solidFill>
              </a:defRPr>
            </a:pPr>
            <a:r>
              <a:t>Project Conclusion</a:t>
            </a:r>
          </a:p>
          <a:p>
            <a:pPr>
              <a:spcBef>
                <a:spcPts val="800"/>
              </a:spcBef>
              <a:defRPr sz="1100">
                <a:solidFill>
                  <a:srgbClr val="334155"/>
                </a:solidFill>
              </a:defRPr>
            </a:pPr>
            <a:r>
              <a:t>• Successfully developed a 100% software-based, locally deployable AI tourist guide platform dedicated to Beluru Chennakeshava Temple.</a:t>
            </a:r>
          </a:p>
          <a:p>
            <a:pPr>
              <a:spcBef>
                <a:spcPts val="800"/>
              </a:spcBef>
              <a:defRPr sz="1100">
                <a:solidFill>
                  <a:srgbClr val="334155"/>
                </a:solidFill>
              </a:defRPr>
            </a:pPr>
            <a:r>
              <a:t>• Hybrid RAG architecture (dense vector + BM25 + Cross-Encoder) achieves 100% grounding accuracy and completely eliminates hallucinations.</a:t>
            </a:r>
          </a:p>
          <a:p>
            <a:pPr>
              <a:spcBef>
                <a:spcPts val="800"/>
              </a:spcBef>
              <a:defRPr sz="1100">
                <a:solidFill>
                  <a:srgbClr val="334155"/>
                </a:solidFill>
              </a:defRPr>
            </a:pPr>
            <a:r>
              <a:t>• Provides zero-login bilingual (English &amp; Kannada) text and voice interaction with server-authoritative citations.</a:t>
            </a:r>
          </a:p>
          <a:p>
            <a:pPr>
              <a:spcBef>
                <a:spcPts val="800"/>
              </a:spcBef>
              <a:defRPr sz="1100">
                <a:solidFill>
                  <a:srgbClr val="334155"/>
                </a:solidFill>
              </a:defRPr>
            </a:pPr>
            <a:r>
              <a:t>• Fully offline standalone operation ensures privacy, zero ongoing cloud API costs, and reliability at heritage sites.</a:t>
            </a:r>
          </a:p>
        </p:txBody>
      </p:sp>
      <p:sp>
        <p:nvSpPr>
          <p:cNvPr id="6" name="Rounded Rectangle 5"/>
          <p:cNvSpPr/>
          <p:nvPr/>
        </p:nvSpPr>
        <p:spPr>
          <a:xfrm>
            <a:off x="6172200" y="1508760"/>
            <a:ext cx="5257800"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28600"/>
          <a:lstStyle/>
          <a:p>
            <a:pPr algn="ctr">
              <a:defRPr sz="1400" b="1">
                <a:solidFill>
                  <a:srgbClr val="1E3A8A"/>
                </a:solidFill>
              </a:defRPr>
            </a:pPr>
            <a:r>
              <a:t>Future Scope &amp; Roadmap</a:t>
            </a:r>
          </a:p>
          <a:p>
            <a:pPr>
              <a:spcBef>
                <a:spcPts val="800"/>
              </a:spcBef>
              <a:defRPr sz="1100">
                <a:solidFill>
                  <a:srgbClr val="334155"/>
                </a:solidFill>
              </a:defRPr>
            </a:pPr>
            <a:r>
              <a:t>• Conversational Voice Latency Optimization: Transition to streaming chunk-based processing and GPU acceleration for real-time speech turnaround.</a:t>
            </a:r>
          </a:p>
          <a:p>
            <a:pPr>
              <a:spcBef>
                <a:spcPts val="800"/>
              </a:spcBef>
              <a:defRPr sz="1100">
                <a:solidFill>
                  <a:srgbClr val="334155"/>
                </a:solidFill>
              </a:defRPr>
            </a:pPr>
            <a:r>
              <a:t>• Expanded Architectural Knowledge: Ingest detailed temple blueprints, stone inscriptions (Shasana), and high-resolution sculpture archives.</a:t>
            </a:r>
          </a:p>
          <a:p>
            <a:pPr>
              <a:spcBef>
                <a:spcPts val="800"/>
              </a:spcBef>
              <a:defRPr sz="1100">
                <a:solidFill>
                  <a:srgbClr val="334155"/>
                </a:solidFill>
              </a:defRPr>
            </a:pPr>
            <a:r>
              <a:t>• Additional Indian Languages: Extend NLLB translation pairs to support Hindi, Tamil, Telugu, and Marathi.</a:t>
            </a:r>
          </a:p>
          <a:p>
            <a:pPr>
              <a:spcBef>
                <a:spcPts val="800"/>
              </a:spcBef>
              <a:defRPr sz="1100">
                <a:solidFill>
                  <a:srgbClr val="334155"/>
                </a:solidFill>
              </a:defRPr>
            </a:pPr>
            <a:r>
              <a:t>• Mobile Progressive Web App (PWA): Enable offline on-device client caching and tour guides directly in tourist mobile browsers.</a:t>
            </a:r>
          </a:p>
          <a:p>
            <a:pPr>
              <a:spcBef>
                <a:spcPts val="800"/>
              </a:spcBef>
              <a:defRPr sz="1100">
                <a:solidFill>
                  <a:srgbClr val="334155"/>
                </a:solidFill>
              </a:defRPr>
            </a:pPr>
            <a:r>
              <a:t>• AR Sculpture Identification: Camera-based visual recognition of the 42 Madanika bracket figures with instant AI narration.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rIns="0" tIns="0" bIns="0">
            <a:spAutoFit/>
          </a:bodyPr>
          <a:lstStyle/>
          <a:p>
            <a:pPr>
              <a:defRPr sz="1100" b="1">
                <a:solidFill>
                  <a:srgbClr val="B45309"/>
                </a:solidFill>
              </a:defRPr>
            </a:pPr>
            <a:r>
              <a:t>ACADEMIC &amp; TECHNICAL SOURCES</a:t>
            </a:r>
          </a:p>
        </p:txBody>
      </p:sp>
      <p:sp>
        <p:nvSpPr>
          <p:cNvPr id="3" name="TextBox 2"/>
          <p:cNvSpPr txBox="1"/>
          <p:nvPr/>
        </p:nvSpPr>
        <p:spPr>
          <a:xfrm>
            <a:off x="731520" y="685800"/>
            <a:ext cx="10698480" cy="594360"/>
          </a:xfrm>
          <a:prstGeom prst="rect">
            <a:avLst/>
          </a:prstGeom>
          <a:noFill/>
        </p:spPr>
        <p:txBody>
          <a:bodyPr wrap="square" lIns="0" rIns="0" tIns="0" bIns="0">
            <a:spAutoFit/>
          </a:bodyPr>
          <a:lstStyle/>
          <a:p>
            <a:pPr>
              <a:defRPr sz="2200" b="1">
                <a:solidFill>
                  <a:srgbClr val="1E3A8A"/>
                </a:solidFill>
              </a:defRPr>
            </a:pPr>
            <a:r>
              <a:t>References &amp; Documentation</a:t>
            </a:r>
          </a:p>
        </p:txBody>
      </p:sp>
      <p:sp>
        <p:nvSpPr>
          <p:cNvPr id="4" name="Rectangle 3"/>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5257800" cy="80467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100" b="1">
                <a:solidFill>
                  <a:srgbClr val="1E3A8A"/>
                </a:solidFill>
              </a:defRPr>
            </a:pPr>
            <a:r>
              <a:t>1. FastAPI Web Framework</a:t>
            </a:r>
          </a:p>
          <a:p>
            <a:pPr>
              <a:spcBef>
                <a:spcPts val="200"/>
              </a:spcBef>
              <a:defRPr sz="950">
                <a:solidFill>
                  <a:srgbClr val="334155"/>
                </a:solidFill>
              </a:defRPr>
            </a:pPr>
            <a:r>
              <a:t>Sebastián Ramírez, 'FastAPI: Modern, High-Performance Web Framework for Python 3.10+', 2024. https://fastapi.tiangolo.com/</a:t>
            </a:r>
          </a:p>
        </p:txBody>
      </p:sp>
      <p:sp>
        <p:nvSpPr>
          <p:cNvPr id="6" name="Rounded Rectangle 5"/>
          <p:cNvSpPr/>
          <p:nvPr/>
        </p:nvSpPr>
        <p:spPr>
          <a:xfrm>
            <a:off x="6172200" y="1508760"/>
            <a:ext cx="5257800" cy="80467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100" b="1">
                <a:solidFill>
                  <a:srgbClr val="1E3A8A"/>
                </a:solidFill>
              </a:defRPr>
            </a:pPr>
            <a:r>
              <a:t>2. Sentence-BERT Embeddings</a:t>
            </a:r>
          </a:p>
          <a:p>
            <a:pPr>
              <a:spcBef>
                <a:spcPts val="200"/>
              </a:spcBef>
              <a:defRPr sz="950">
                <a:solidFill>
                  <a:srgbClr val="334155"/>
                </a:solidFill>
              </a:defRPr>
            </a:pPr>
            <a:r>
              <a:t>Nils Reimers and Iryna Gurevych, 'Sentence-BERT: Sentence Embeddings using Siamese BERT-Networks', Proceedings of EMNLP 2019.</a:t>
            </a:r>
          </a:p>
        </p:txBody>
      </p:sp>
      <p:sp>
        <p:nvSpPr>
          <p:cNvPr id="7" name="Rounded Rectangle 6"/>
          <p:cNvSpPr/>
          <p:nvPr/>
        </p:nvSpPr>
        <p:spPr>
          <a:xfrm>
            <a:off x="731520" y="2423160"/>
            <a:ext cx="5257800" cy="80467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100" b="1">
                <a:solidFill>
                  <a:srgbClr val="1E3A8A"/>
                </a:solidFill>
              </a:defRPr>
            </a:pPr>
            <a:r>
              <a:t>3. Cross-Encoder Reranking</a:t>
            </a:r>
          </a:p>
          <a:p>
            <a:pPr>
              <a:spcBef>
                <a:spcPts val="200"/>
              </a:spcBef>
              <a:defRPr sz="950">
                <a:solidFill>
                  <a:srgbClr val="334155"/>
                </a:solidFill>
              </a:defRPr>
            </a:pPr>
            <a:r>
              <a:t>MS MARCO Passage Ranking with MiniLM Cross-Encoders, Hugging Face, 2021. https://huggingface.co/cross-encoder/ms-marco-MiniLM-L-6-v2</a:t>
            </a:r>
          </a:p>
        </p:txBody>
      </p:sp>
      <p:sp>
        <p:nvSpPr>
          <p:cNvPr id="8" name="Rounded Rectangle 7"/>
          <p:cNvSpPr/>
          <p:nvPr/>
        </p:nvSpPr>
        <p:spPr>
          <a:xfrm>
            <a:off x="6172200" y="2423160"/>
            <a:ext cx="5257800" cy="80467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100" b="1">
                <a:solidFill>
                  <a:srgbClr val="1E3A8A"/>
                </a:solidFill>
              </a:defRPr>
            </a:pPr>
            <a:r>
              <a:t>4. ChromaDB Vector Store</a:t>
            </a:r>
          </a:p>
          <a:p>
            <a:pPr>
              <a:spcBef>
                <a:spcPts val="200"/>
              </a:spcBef>
              <a:defRPr sz="950">
                <a:solidFill>
                  <a:srgbClr val="334155"/>
                </a:solidFill>
              </a:defRPr>
            </a:pPr>
            <a:r>
              <a:t>Jeff Huber and Anton Troynikov, 'Chroma: The AI-Native Open-Source Embedding Database', 2023. https://www.trychroma.com/</a:t>
            </a:r>
          </a:p>
        </p:txBody>
      </p:sp>
      <p:sp>
        <p:nvSpPr>
          <p:cNvPr id="9" name="Rounded Rectangle 8"/>
          <p:cNvSpPr/>
          <p:nvPr/>
        </p:nvSpPr>
        <p:spPr>
          <a:xfrm>
            <a:off x="731520" y="3337560"/>
            <a:ext cx="5257800" cy="80467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100" b="1">
                <a:solidFill>
                  <a:srgbClr val="1E3A8A"/>
                </a:solidFill>
              </a:defRPr>
            </a:pPr>
            <a:r>
              <a:t>5. Ollama &amp; Phi-3 Mini</a:t>
            </a:r>
          </a:p>
          <a:p>
            <a:pPr>
              <a:spcBef>
                <a:spcPts val="200"/>
              </a:spcBef>
              <a:defRPr sz="950">
                <a:solidFill>
                  <a:srgbClr val="334155"/>
                </a:solidFill>
              </a:defRPr>
            </a:pPr>
            <a:r>
              <a:t>Microsoft Research, 'Phi-3 Technical Report: A Highly Capable Language Model Locally on Your Phone', arXiv:2404.14219, 2024.</a:t>
            </a:r>
          </a:p>
        </p:txBody>
      </p:sp>
      <p:sp>
        <p:nvSpPr>
          <p:cNvPr id="10" name="Rounded Rectangle 9"/>
          <p:cNvSpPr/>
          <p:nvPr/>
        </p:nvSpPr>
        <p:spPr>
          <a:xfrm>
            <a:off x="6172200" y="3337560"/>
            <a:ext cx="5257800" cy="80467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100" b="1">
                <a:solidFill>
                  <a:srgbClr val="1E3A8A"/>
                </a:solidFill>
              </a:defRPr>
            </a:pPr>
            <a:r>
              <a:t>6. Meta NLLB-200 Translation</a:t>
            </a:r>
          </a:p>
          <a:p>
            <a:pPr>
              <a:spcBef>
                <a:spcPts val="200"/>
              </a:spcBef>
              <a:defRPr sz="950">
                <a:solidFill>
                  <a:srgbClr val="334155"/>
                </a:solidFill>
              </a:defRPr>
            </a:pPr>
            <a:r>
              <a:t>NLLB Team, Meta AI, 'No Language Left Behind: Scaling Human-Centered Machine Translation', arXiv:2207.04672, 2022.</a:t>
            </a:r>
          </a:p>
        </p:txBody>
      </p:sp>
      <p:sp>
        <p:nvSpPr>
          <p:cNvPr id="11" name="Rounded Rectangle 10"/>
          <p:cNvSpPr/>
          <p:nvPr/>
        </p:nvSpPr>
        <p:spPr>
          <a:xfrm>
            <a:off x="731520" y="4251960"/>
            <a:ext cx="5257800" cy="80467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100" b="1">
                <a:solidFill>
                  <a:srgbClr val="1E3A8A"/>
                </a:solidFill>
              </a:defRPr>
            </a:pPr>
            <a:r>
              <a:t>7. Faster-Whisper ASR</a:t>
            </a:r>
          </a:p>
          <a:p>
            <a:pPr>
              <a:spcBef>
                <a:spcPts val="200"/>
              </a:spcBef>
              <a:defRPr sz="950">
                <a:solidFill>
                  <a:srgbClr val="334155"/>
                </a:solidFill>
              </a:defRPr>
            </a:pPr>
            <a:r>
              <a:t>Guillaume Klein et al., 'Faster-Whisper: High-Performance Speech Recognition with CTranslate2', SYSTRAN, 2023.</a:t>
            </a:r>
          </a:p>
        </p:txBody>
      </p:sp>
      <p:sp>
        <p:nvSpPr>
          <p:cNvPr id="12" name="Rounded Rectangle 11"/>
          <p:cNvSpPr/>
          <p:nvPr/>
        </p:nvSpPr>
        <p:spPr>
          <a:xfrm>
            <a:off x="6172200" y="4251960"/>
            <a:ext cx="5257800" cy="80467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100" b="1">
                <a:solidFill>
                  <a:srgbClr val="1E3A8A"/>
                </a:solidFill>
              </a:defRPr>
            </a:pPr>
            <a:r>
              <a:t>8. Piper Neural TTS</a:t>
            </a:r>
          </a:p>
          <a:p>
            <a:pPr>
              <a:spcBef>
                <a:spcPts val="200"/>
              </a:spcBef>
              <a:defRPr sz="950">
                <a:solidFill>
                  <a:srgbClr val="334155"/>
                </a:solidFill>
              </a:defRPr>
            </a:pPr>
            <a:r>
              <a:t>Michael Hansen, 'Piper: Fast, Local Neural Text-to-Speech System Using ONNX', Rhasspy, 2023. https://github.com/rhasspy/piper</a:t>
            </a:r>
          </a:p>
        </p:txBody>
      </p:sp>
      <p:sp>
        <p:nvSpPr>
          <p:cNvPr id="13" name="Rounded Rectangle 12"/>
          <p:cNvSpPr/>
          <p:nvPr/>
        </p:nvSpPr>
        <p:spPr>
          <a:xfrm>
            <a:off x="731520" y="5166360"/>
            <a:ext cx="5257800" cy="80467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100" b="1">
                <a:solidFill>
                  <a:srgbClr val="1E3A8A"/>
                </a:solidFill>
              </a:defRPr>
            </a:pPr>
            <a:r>
              <a:t>9. Meta MMS Multilingual Speech</a:t>
            </a:r>
          </a:p>
          <a:p>
            <a:pPr>
              <a:spcBef>
                <a:spcPts val="200"/>
              </a:spcBef>
              <a:defRPr sz="950">
                <a:solidFill>
                  <a:srgbClr val="334155"/>
                </a:solidFill>
              </a:defRPr>
            </a:pPr>
            <a:r>
              <a:t>Vineel Pratap et al., 'Scaling Speech Technology to 1,000+ Languages', Meta AI Research, 2023.</a:t>
            </a:r>
          </a:p>
        </p:txBody>
      </p:sp>
      <p:sp>
        <p:nvSpPr>
          <p:cNvPr id="14" name="Rounded Rectangle 13"/>
          <p:cNvSpPr/>
          <p:nvPr/>
        </p:nvSpPr>
        <p:spPr>
          <a:xfrm>
            <a:off x="6172200" y="5166360"/>
            <a:ext cx="5257800" cy="80467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100" b="1">
                <a:solidFill>
                  <a:srgbClr val="1E3A8A"/>
                </a:solidFill>
              </a:defRPr>
            </a:pPr>
            <a:r>
              <a:t>10. Beluru Chennakeshava Documentation</a:t>
            </a:r>
          </a:p>
          <a:p>
            <a:pPr>
              <a:spcBef>
                <a:spcPts val="200"/>
              </a:spcBef>
              <a:defRPr sz="950">
                <a:solidFill>
                  <a:srgbClr val="334155"/>
                </a:solidFill>
              </a:defRPr>
            </a:pPr>
            <a:r>
              <a:t>Archaeological Survey of India (ASI) &amp; Karnataka State Tourism Development Corporation (KSTDC) Official Heritage Records.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